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6"/>
  </p:normalViewPr>
  <p:slideViewPr>
    <p:cSldViewPr snapToGrid="0" snapToObjects="1">
      <p:cViewPr varScale="1">
        <p:scale>
          <a:sx n="114" d="100"/>
          <a:sy n="114" d="100"/>
        </p:scale>
        <p:origin x="9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00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28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83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34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85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80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86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94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6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51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3077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3590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9525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668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23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832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350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00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44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725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011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007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856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94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101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96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60175" cy="1051560"/>
          </a:xfrm>
          <a:prstGeom prst="rect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dirty="0"/>
              <a:t>Binary Search Tree (BST)</a:t>
            </a:r>
          </a:p>
        </p:txBody>
      </p:sp>
      <p:sp>
        <p:nvSpPr>
          <p:cNvPr id="3" name="Rectangle 2"/>
          <p:cNvSpPr/>
          <p:nvPr/>
        </p:nvSpPr>
        <p:spPr>
          <a:xfrm rot="9608687">
            <a:off x="2902425" y="2678491"/>
            <a:ext cx="3499895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7481709">
            <a:off x="1697722" y="3827467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7481709">
            <a:off x="853723" y="5039048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2150259">
            <a:off x="2663788" y="3832986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7481709">
            <a:off x="3264915" y="5118968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3318291">
            <a:off x="4201305" y="5170002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1542597">
            <a:off x="6036981" y="2708232"/>
            <a:ext cx="274015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 rot="8649741">
            <a:off x="6806515" y="3844808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 rot="3318293">
            <a:off x="6556581" y="4936137"/>
            <a:ext cx="1445792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3318291">
            <a:off x="8263114" y="3721393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33871" y="1810512"/>
            <a:ext cx="667289" cy="585216"/>
          </a:xfrm>
          <a:prstGeom prst="ellipse">
            <a:avLst/>
          </a:prstGeom>
          <a:solidFill>
            <a:srgbClr val="10B981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lang="en-US" dirty="0"/>
              <a:t>50</a:t>
            </a:r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2542031" y="2999232"/>
            <a:ext cx="725275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30</a:t>
            </a:r>
          </a:p>
        </p:txBody>
      </p:sp>
      <p:sp>
        <p:nvSpPr>
          <p:cNvPr id="15" name="Oval 14"/>
          <p:cNvSpPr/>
          <p:nvPr/>
        </p:nvSpPr>
        <p:spPr>
          <a:xfrm>
            <a:off x="1719072" y="4187952"/>
            <a:ext cx="655816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5376672"/>
            <a:ext cx="697664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17" name="Oval 16"/>
          <p:cNvSpPr/>
          <p:nvPr/>
        </p:nvSpPr>
        <p:spPr>
          <a:xfrm>
            <a:off x="4097960" y="4208989"/>
            <a:ext cx="655816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44</a:t>
            </a:r>
          </a:p>
        </p:txBody>
      </p:sp>
      <p:sp>
        <p:nvSpPr>
          <p:cNvPr id="18" name="Oval 17"/>
          <p:cNvSpPr/>
          <p:nvPr/>
        </p:nvSpPr>
        <p:spPr>
          <a:xfrm>
            <a:off x="3371104" y="5425737"/>
            <a:ext cx="697664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43</a:t>
            </a:r>
          </a:p>
        </p:txBody>
      </p:sp>
      <p:sp>
        <p:nvSpPr>
          <p:cNvPr id="19" name="Oval 18"/>
          <p:cNvSpPr/>
          <p:nvPr/>
        </p:nvSpPr>
        <p:spPr>
          <a:xfrm>
            <a:off x="4928052" y="5425737"/>
            <a:ext cx="712189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45</a:t>
            </a:r>
          </a:p>
        </p:txBody>
      </p:sp>
      <p:sp>
        <p:nvSpPr>
          <p:cNvPr id="20" name="Oval 19"/>
          <p:cNvSpPr/>
          <p:nvPr/>
        </p:nvSpPr>
        <p:spPr>
          <a:xfrm>
            <a:off x="8302752" y="2999232"/>
            <a:ext cx="677148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70</a:t>
            </a:r>
          </a:p>
        </p:txBody>
      </p:sp>
      <p:sp>
        <p:nvSpPr>
          <p:cNvPr id="21" name="Oval 20"/>
          <p:cNvSpPr/>
          <p:nvPr/>
        </p:nvSpPr>
        <p:spPr>
          <a:xfrm>
            <a:off x="6656832" y="4187952"/>
            <a:ext cx="655816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65</a:t>
            </a:r>
          </a:p>
        </p:txBody>
      </p:sp>
      <p:sp>
        <p:nvSpPr>
          <p:cNvPr id="22" name="Oval 21"/>
          <p:cNvSpPr/>
          <p:nvPr/>
        </p:nvSpPr>
        <p:spPr>
          <a:xfrm>
            <a:off x="7405235" y="5416496"/>
            <a:ext cx="727508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68</a:t>
            </a:r>
          </a:p>
        </p:txBody>
      </p:sp>
      <p:sp>
        <p:nvSpPr>
          <p:cNvPr id="23" name="Oval 22"/>
          <p:cNvSpPr/>
          <p:nvPr/>
        </p:nvSpPr>
        <p:spPr>
          <a:xfrm>
            <a:off x="9125712" y="4187952"/>
            <a:ext cx="656974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5171" y="1481322"/>
            <a:ext cx="237744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dirty="0"/>
              <a:t>Legend</a:t>
            </a:r>
          </a:p>
          <a:p>
            <a:pPr>
              <a:defRPr sz="1200"/>
            </a:pPr>
            <a:r>
              <a:rPr dirty="0">
                <a:solidFill>
                  <a:schemeClr val="tx1"/>
                </a:solidFill>
              </a:rPr>
              <a:t>Green = Root node</a:t>
            </a:r>
          </a:p>
          <a:p>
            <a:pPr>
              <a:defRPr sz="1200"/>
            </a:pPr>
            <a:r>
              <a:rPr dirty="0">
                <a:solidFill>
                  <a:schemeClr val="tx1"/>
                </a:solidFill>
              </a:rPr>
              <a:t>Blue = Regular node</a:t>
            </a:r>
          </a:p>
          <a:p>
            <a:pPr>
              <a:defRPr sz="1200"/>
            </a:pPr>
            <a:r>
              <a:rPr dirty="0">
                <a:solidFill>
                  <a:schemeClr val="tx1"/>
                </a:solidFill>
              </a:rPr>
              <a:t>Gray lines = edges</a:t>
            </a:r>
          </a:p>
        </p:txBody>
      </p:sp>
      <p:sp>
        <p:nvSpPr>
          <p:cNvPr id="25" name="Up Arrow 24">
            <a:extLst>
              <a:ext uri="{FF2B5EF4-FFF2-40B4-BE49-F238E27FC236}">
                <a16:creationId xmlns:a16="http://schemas.microsoft.com/office/drawing/2014/main" id="{FB7E1C91-DC30-6503-9207-4982D4CB9674}"/>
              </a:ext>
            </a:extLst>
          </p:cNvPr>
          <p:cNvSpPr/>
          <p:nvPr/>
        </p:nvSpPr>
        <p:spPr>
          <a:xfrm>
            <a:off x="1086595" y="6070055"/>
            <a:ext cx="247558" cy="4237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Up Arrow 25">
            <a:extLst>
              <a:ext uri="{FF2B5EF4-FFF2-40B4-BE49-F238E27FC236}">
                <a16:creationId xmlns:a16="http://schemas.microsoft.com/office/drawing/2014/main" id="{C4035B21-88F5-AF2F-D3C1-DEC6F27341C1}"/>
              </a:ext>
            </a:extLst>
          </p:cNvPr>
          <p:cNvSpPr/>
          <p:nvPr/>
        </p:nvSpPr>
        <p:spPr>
          <a:xfrm>
            <a:off x="3596157" y="6070055"/>
            <a:ext cx="247558" cy="4237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Up Arrow 26">
            <a:extLst>
              <a:ext uri="{FF2B5EF4-FFF2-40B4-BE49-F238E27FC236}">
                <a16:creationId xmlns:a16="http://schemas.microsoft.com/office/drawing/2014/main" id="{2DFD9A44-05F2-846E-33F9-F3B9062B7253}"/>
              </a:ext>
            </a:extLst>
          </p:cNvPr>
          <p:cNvSpPr/>
          <p:nvPr/>
        </p:nvSpPr>
        <p:spPr>
          <a:xfrm>
            <a:off x="5160367" y="6084552"/>
            <a:ext cx="247558" cy="4237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Up Arrow 27">
            <a:extLst>
              <a:ext uri="{FF2B5EF4-FFF2-40B4-BE49-F238E27FC236}">
                <a16:creationId xmlns:a16="http://schemas.microsoft.com/office/drawing/2014/main" id="{ACFFC848-0947-0C2F-7204-2D019B09AC07}"/>
              </a:ext>
            </a:extLst>
          </p:cNvPr>
          <p:cNvSpPr/>
          <p:nvPr/>
        </p:nvSpPr>
        <p:spPr>
          <a:xfrm>
            <a:off x="7645210" y="6080538"/>
            <a:ext cx="247558" cy="4237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6212BD-BC76-1609-BA53-0BCD30C4EC9C}"/>
              </a:ext>
            </a:extLst>
          </p:cNvPr>
          <p:cNvSpPr txBox="1"/>
          <p:nvPr/>
        </p:nvSpPr>
        <p:spPr>
          <a:xfrm>
            <a:off x="868726" y="6451651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BBA264-BA84-C72F-0CD1-F3CA50CFD690}"/>
              </a:ext>
            </a:extLst>
          </p:cNvPr>
          <p:cNvSpPr txBox="1"/>
          <p:nvPr/>
        </p:nvSpPr>
        <p:spPr>
          <a:xfrm>
            <a:off x="3389236" y="6434699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1268FC-AF03-91A6-CF30-7F430B7B077F}"/>
              </a:ext>
            </a:extLst>
          </p:cNvPr>
          <p:cNvSpPr txBox="1"/>
          <p:nvPr/>
        </p:nvSpPr>
        <p:spPr>
          <a:xfrm>
            <a:off x="4953446" y="6434699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F76A5F-B69D-5C45-D6D7-E1B912B47FEE}"/>
              </a:ext>
            </a:extLst>
          </p:cNvPr>
          <p:cNvSpPr txBox="1"/>
          <p:nvPr/>
        </p:nvSpPr>
        <p:spPr>
          <a:xfrm>
            <a:off x="7438289" y="6434699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Leaf</a:t>
            </a:r>
          </a:p>
        </p:txBody>
      </p:sp>
      <p:sp>
        <p:nvSpPr>
          <p:cNvPr id="33" name="Left Arrow 32">
            <a:extLst>
              <a:ext uri="{FF2B5EF4-FFF2-40B4-BE49-F238E27FC236}">
                <a16:creationId xmlns:a16="http://schemas.microsoft.com/office/drawing/2014/main" id="{6E1D2864-3F03-4908-D7BA-51BE9D087304}"/>
              </a:ext>
            </a:extLst>
          </p:cNvPr>
          <p:cNvSpPr/>
          <p:nvPr/>
        </p:nvSpPr>
        <p:spPr>
          <a:xfrm>
            <a:off x="9087799" y="3161753"/>
            <a:ext cx="656974" cy="18604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eft Arrow 33">
            <a:extLst>
              <a:ext uri="{FF2B5EF4-FFF2-40B4-BE49-F238E27FC236}">
                <a16:creationId xmlns:a16="http://schemas.microsoft.com/office/drawing/2014/main" id="{77C4CEF6-9F71-0C16-B8AC-54CFD6F03D1C}"/>
              </a:ext>
            </a:extLst>
          </p:cNvPr>
          <p:cNvSpPr/>
          <p:nvPr/>
        </p:nvSpPr>
        <p:spPr>
          <a:xfrm>
            <a:off x="9873170" y="4387537"/>
            <a:ext cx="656974" cy="18604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B07A56-1EA5-101E-C167-EAC0E716AF5F}"/>
              </a:ext>
            </a:extLst>
          </p:cNvPr>
          <p:cNvSpPr txBox="1"/>
          <p:nvPr/>
        </p:nvSpPr>
        <p:spPr>
          <a:xfrm>
            <a:off x="9878112" y="3111910"/>
            <a:ext cx="155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Predecessor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3076D1-E51D-E480-80AE-9AAED3BFCF02}"/>
              </a:ext>
            </a:extLst>
          </p:cNvPr>
          <p:cNvSpPr txBox="1"/>
          <p:nvPr/>
        </p:nvSpPr>
        <p:spPr>
          <a:xfrm>
            <a:off x="10532887" y="4295894"/>
            <a:ext cx="1331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Successor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542945E-D121-C350-4200-A067BEC4F2D5}"/>
              </a:ext>
            </a:extLst>
          </p:cNvPr>
          <p:cNvSpPr/>
          <p:nvPr/>
        </p:nvSpPr>
        <p:spPr>
          <a:xfrm>
            <a:off x="557562" y="2670705"/>
            <a:ext cx="5276310" cy="3399350"/>
          </a:xfrm>
          <a:prstGeom prst="round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E83A23-0A7F-E5EC-B60A-66D3B405F8D3}"/>
              </a:ext>
            </a:extLst>
          </p:cNvPr>
          <p:cNvSpPr txBox="1"/>
          <p:nvPr/>
        </p:nvSpPr>
        <p:spPr>
          <a:xfrm>
            <a:off x="790124" y="2866931"/>
            <a:ext cx="1520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 Subtree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F85CC70-F541-9DB8-BE93-003A62712272}"/>
              </a:ext>
            </a:extLst>
          </p:cNvPr>
          <p:cNvSpPr/>
          <p:nvPr/>
        </p:nvSpPr>
        <p:spPr>
          <a:xfrm>
            <a:off x="6364225" y="2681188"/>
            <a:ext cx="3451914" cy="3399350"/>
          </a:xfrm>
          <a:prstGeom prst="round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22A9A4-E71F-FA07-F366-04542A26B756}"/>
              </a:ext>
            </a:extLst>
          </p:cNvPr>
          <p:cNvSpPr txBox="1"/>
          <p:nvPr/>
        </p:nvSpPr>
        <p:spPr>
          <a:xfrm>
            <a:off x="6413956" y="2999232"/>
            <a:ext cx="1659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 Subtree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60175" cy="1051560"/>
          </a:xfrm>
          <a:prstGeom prst="rect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Preorder Traversal</a:t>
            </a:r>
          </a:p>
          <a:p>
            <a:pPr algn="ctr">
              <a:defRPr sz="1600">
                <a:solidFill>
                  <a:srgbClr val="C7D2FE"/>
                </a:solidFill>
              </a:defRPr>
            </a:pPr>
            <a:r>
              <a:t>Visit Root → Left → Right</a:t>
            </a:r>
          </a:p>
        </p:txBody>
      </p:sp>
      <p:sp>
        <p:nvSpPr>
          <p:cNvPr id="3" name="Rectangle 2"/>
          <p:cNvSpPr/>
          <p:nvPr/>
        </p:nvSpPr>
        <p:spPr>
          <a:xfrm rot="9608687">
            <a:off x="2819474" y="2657556"/>
            <a:ext cx="3499895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7481709">
            <a:off x="1732316" y="3822641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7481709">
            <a:off x="802455" y="5136536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2150259">
            <a:off x="2657776" y="3927105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7481709">
            <a:off x="3334750" y="5098943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3318291">
            <a:off x="4109585" y="4983111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1542597">
            <a:off x="6135794" y="2704908"/>
            <a:ext cx="274015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 rot="8649741">
            <a:off x="6842264" y="3807774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 rot="3318293">
            <a:off x="6611868" y="5028038"/>
            <a:ext cx="1445792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3318291">
            <a:off x="8263113" y="3725717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797164" y="1872301"/>
            <a:ext cx="726363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4" name="Oval 13"/>
          <p:cNvSpPr/>
          <p:nvPr/>
        </p:nvSpPr>
        <p:spPr>
          <a:xfrm>
            <a:off x="2501949" y="3039776"/>
            <a:ext cx="671116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15" name="Oval 14"/>
          <p:cNvSpPr/>
          <p:nvPr/>
        </p:nvSpPr>
        <p:spPr>
          <a:xfrm>
            <a:off x="1737359" y="4206240"/>
            <a:ext cx="648977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16" name="Oval 15"/>
          <p:cNvSpPr/>
          <p:nvPr/>
        </p:nvSpPr>
        <p:spPr>
          <a:xfrm>
            <a:off x="914399" y="5394960"/>
            <a:ext cx="669073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17" name="Oval 16"/>
          <p:cNvSpPr/>
          <p:nvPr/>
        </p:nvSpPr>
        <p:spPr>
          <a:xfrm>
            <a:off x="4138814" y="4262809"/>
            <a:ext cx="64897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44</a:t>
            </a:r>
          </a:p>
        </p:txBody>
      </p:sp>
      <p:sp>
        <p:nvSpPr>
          <p:cNvPr id="18" name="Oval 17"/>
          <p:cNvSpPr/>
          <p:nvPr/>
        </p:nvSpPr>
        <p:spPr>
          <a:xfrm>
            <a:off x="3383279" y="5394960"/>
            <a:ext cx="630167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43</a:t>
            </a:r>
          </a:p>
        </p:txBody>
      </p:sp>
      <p:sp>
        <p:nvSpPr>
          <p:cNvPr id="19" name="Oval 18"/>
          <p:cNvSpPr/>
          <p:nvPr/>
        </p:nvSpPr>
        <p:spPr>
          <a:xfrm>
            <a:off x="4962788" y="5383950"/>
            <a:ext cx="630167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45</a:t>
            </a:r>
          </a:p>
        </p:txBody>
      </p:sp>
      <p:sp>
        <p:nvSpPr>
          <p:cNvPr id="20" name="Oval 19"/>
          <p:cNvSpPr/>
          <p:nvPr/>
        </p:nvSpPr>
        <p:spPr>
          <a:xfrm>
            <a:off x="8321039" y="3017520"/>
            <a:ext cx="718665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70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4206240"/>
            <a:ext cx="64897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65</a:t>
            </a:r>
          </a:p>
        </p:txBody>
      </p:sp>
      <p:sp>
        <p:nvSpPr>
          <p:cNvPr id="22" name="Oval 21"/>
          <p:cNvSpPr/>
          <p:nvPr/>
        </p:nvSpPr>
        <p:spPr>
          <a:xfrm>
            <a:off x="7498078" y="5394960"/>
            <a:ext cx="680477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68</a:t>
            </a:r>
          </a:p>
        </p:txBody>
      </p:sp>
      <p:sp>
        <p:nvSpPr>
          <p:cNvPr id="23" name="Oval 22"/>
          <p:cNvSpPr/>
          <p:nvPr/>
        </p:nvSpPr>
        <p:spPr>
          <a:xfrm>
            <a:off x="9143999" y="4206240"/>
            <a:ext cx="691897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85</a:t>
            </a:r>
          </a:p>
        </p:txBody>
      </p:sp>
      <p:sp>
        <p:nvSpPr>
          <p:cNvPr id="24" name="Oval 23"/>
          <p:cNvSpPr/>
          <p:nvPr/>
        </p:nvSpPr>
        <p:spPr>
          <a:xfrm>
            <a:off x="6456683" y="1638765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2958260" y="2669260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2456438" y="4185246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1556573" y="5255017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4736592" y="4059936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Oval 28"/>
          <p:cNvSpPr/>
          <p:nvPr/>
        </p:nvSpPr>
        <p:spPr>
          <a:xfrm>
            <a:off x="4092946" y="5243044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0" name="Oval 29"/>
          <p:cNvSpPr/>
          <p:nvPr/>
        </p:nvSpPr>
        <p:spPr>
          <a:xfrm>
            <a:off x="5525693" y="5186480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Oval 30"/>
          <p:cNvSpPr/>
          <p:nvPr/>
        </p:nvSpPr>
        <p:spPr>
          <a:xfrm>
            <a:off x="9039703" y="2779327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2" name="Oval 31"/>
          <p:cNvSpPr/>
          <p:nvPr/>
        </p:nvSpPr>
        <p:spPr>
          <a:xfrm>
            <a:off x="7440314" y="4317607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3" name="Oval 32"/>
          <p:cNvSpPr/>
          <p:nvPr/>
        </p:nvSpPr>
        <p:spPr>
          <a:xfrm>
            <a:off x="8262233" y="5243044"/>
            <a:ext cx="485155" cy="43409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4" name="Oval 33"/>
          <p:cNvSpPr/>
          <p:nvPr/>
        </p:nvSpPr>
        <p:spPr>
          <a:xfrm>
            <a:off x="9925392" y="4054068"/>
            <a:ext cx="445241" cy="36801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109" y="6025193"/>
            <a:ext cx="106984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Preorder:  50 → 30 → 25 → 21 → 44 → 43 → 45 → 70 → 65 → 68 → 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60175" cy="1051560"/>
          </a:xfrm>
          <a:prstGeom prst="rect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Inorder Traversal</a:t>
            </a:r>
          </a:p>
          <a:p>
            <a:pPr algn="ctr">
              <a:defRPr sz="1600">
                <a:solidFill>
                  <a:srgbClr val="C7D2FE"/>
                </a:solidFill>
              </a:defRPr>
            </a:pPr>
            <a:r>
              <a:t>Visit Left → Root → Right (sorted order for BST)</a:t>
            </a:r>
          </a:p>
        </p:txBody>
      </p:sp>
      <p:sp>
        <p:nvSpPr>
          <p:cNvPr id="3" name="Rectangle 2"/>
          <p:cNvSpPr/>
          <p:nvPr/>
        </p:nvSpPr>
        <p:spPr>
          <a:xfrm rot="9608687">
            <a:off x="2766316" y="2652997"/>
            <a:ext cx="3499895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7481709">
            <a:off x="1709408" y="3902000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7481709">
            <a:off x="886448" y="5065072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2150259">
            <a:off x="2731070" y="3915869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7481709">
            <a:off x="3388035" y="4947607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3318291">
            <a:off x="4234181" y="5161904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1542597">
            <a:off x="6121118" y="2658483"/>
            <a:ext cx="274015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 rot="8649741">
            <a:off x="6843426" y="3826967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 rot="3318293">
            <a:off x="6618723" y="5065071"/>
            <a:ext cx="1445792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3318291">
            <a:off x="8302232" y="3856650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52159" y="1828800"/>
            <a:ext cx="647341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4" name="Oval 13"/>
          <p:cNvSpPr/>
          <p:nvPr/>
        </p:nvSpPr>
        <p:spPr>
          <a:xfrm>
            <a:off x="2560320" y="3017520"/>
            <a:ext cx="649370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15" name="Oval 14"/>
          <p:cNvSpPr/>
          <p:nvPr/>
        </p:nvSpPr>
        <p:spPr>
          <a:xfrm>
            <a:off x="1737360" y="4206240"/>
            <a:ext cx="622822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60"/>
            <a:ext cx="635620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17" name="Oval 16"/>
          <p:cNvSpPr/>
          <p:nvPr/>
        </p:nvSpPr>
        <p:spPr>
          <a:xfrm>
            <a:off x="4206240" y="4206240"/>
            <a:ext cx="650136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44</a:t>
            </a:r>
          </a:p>
        </p:txBody>
      </p:sp>
      <p:sp>
        <p:nvSpPr>
          <p:cNvPr id="18" name="Oval 17"/>
          <p:cNvSpPr/>
          <p:nvPr/>
        </p:nvSpPr>
        <p:spPr>
          <a:xfrm>
            <a:off x="3383280" y="5394960"/>
            <a:ext cx="653922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43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0" y="5394960"/>
            <a:ext cx="64903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45</a:t>
            </a:r>
          </a:p>
        </p:txBody>
      </p:sp>
      <p:sp>
        <p:nvSpPr>
          <p:cNvPr id="20" name="Oval 19"/>
          <p:cNvSpPr/>
          <p:nvPr/>
        </p:nvSpPr>
        <p:spPr>
          <a:xfrm>
            <a:off x="8321040" y="3017520"/>
            <a:ext cx="720990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70</a:t>
            </a:r>
          </a:p>
        </p:txBody>
      </p:sp>
      <p:sp>
        <p:nvSpPr>
          <p:cNvPr id="21" name="Oval 20"/>
          <p:cNvSpPr/>
          <p:nvPr/>
        </p:nvSpPr>
        <p:spPr>
          <a:xfrm>
            <a:off x="6675119" y="4206240"/>
            <a:ext cx="66868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65</a:t>
            </a:r>
          </a:p>
        </p:txBody>
      </p:sp>
      <p:sp>
        <p:nvSpPr>
          <p:cNvPr id="22" name="Oval 21"/>
          <p:cNvSpPr/>
          <p:nvPr/>
        </p:nvSpPr>
        <p:spPr>
          <a:xfrm>
            <a:off x="7498079" y="5394960"/>
            <a:ext cx="64903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68</a:t>
            </a:r>
          </a:p>
        </p:txBody>
      </p:sp>
      <p:sp>
        <p:nvSpPr>
          <p:cNvPr id="23" name="Oval 22"/>
          <p:cNvSpPr/>
          <p:nvPr/>
        </p:nvSpPr>
        <p:spPr>
          <a:xfrm>
            <a:off x="9055850" y="4227495"/>
            <a:ext cx="639474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85</a:t>
            </a:r>
          </a:p>
        </p:txBody>
      </p:sp>
      <p:sp>
        <p:nvSpPr>
          <p:cNvPr id="24" name="Oval 23"/>
          <p:cNvSpPr/>
          <p:nvPr/>
        </p:nvSpPr>
        <p:spPr>
          <a:xfrm>
            <a:off x="1603546" y="5212080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2422737" y="4092498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3103161" y="2660119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4037202" y="5248656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4848972" y="3980114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5</a:t>
            </a:r>
          </a:p>
        </p:txBody>
      </p:sp>
      <p:sp>
        <p:nvSpPr>
          <p:cNvPr id="29" name="Oval 28"/>
          <p:cNvSpPr/>
          <p:nvPr/>
        </p:nvSpPr>
        <p:spPr>
          <a:xfrm>
            <a:off x="5725159" y="5265606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30" name="Oval 29"/>
          <p:cNvSpPr/>
          <p:nvPr/>
        </p:nvSpPr>
        <p:spPr>
          <a:xfrm>
            <a:off x="6550795" y="1644451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Oval 30"/>
          <p:cNvSpPr/>
          <p:nvPr/>
        </p:nvSpPr>
        <p:spPr>
          <a:xfrm>
            <a:off x="7451673" y="4306824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2" name="Oval 31"/>
          <p:cNvSpPr/>
          <p:nvPr/>
        </p:nvSpPr>
        <p:spPr>
          <a:xfrm>
            <a:off x="8084688" y="5212080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0" y="6035040"/>
            <a:ext cx="106984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Inorder:  21 → 25 → 30 → 43 → 44 → 45 → 50 → 65 → 68 → 70 → 85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F012743-77D2-4174-91F3-9494BC528680}"/>
              </a:ext>
            </a:extLst>
          </p:cNvPr>
          <p:cNvSpPr/>
          <p:nvPr/>
        </p:nvSpPr>
        <p:spPr>
          <a:xfrm>
            <a:off x="9086843" y="2726873"/>
            <a:ext cx="485155" cy="43409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6785927-4FCF-9765-CD93-BC8878A6112D}"/>
              </a:ext>
            </a:extLst>
          </p:cNvPr>
          <p:cNvSpPr/>
          <p:nvPr/>
        </p:nvSpPr>
        <p:spPr>
          <a:xfrm>
            <a:off x="9766526" y="3980114"/>
            <a:ext cx="485155" cy="43409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60175" cy="1051560"/>
          </a:xfrm>
          <a:prstGeom prst="rect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Postorder Traversal</a:t>
            </a:r>
          </a:p>
          <a:p>
            <a:pPr algn="ctr">
              <a:defRPr sz="1600">
                <a:solidFill>
                  <a:srgbClr val="C7D2FE"/>
                </a:solidFill>
              </a:defRPr>
            </a:pPr>
            <a:r>
              <a:t>Visit Left → Right → Root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0" y="6090796"/>
            <a:ext cx="106984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Postorder:  21 → 25 → 43 → 45 → 44 → 30 → 68 → 65 → 85 → 70 → 50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E1AFF4-3068-6E2A-1551-21A243D1E0DD}"/>
              </a:ext>
            </a:extLst>
          </p:cNvPr>
          <p:cNvSpPr/>
          <p:nvPr/>
        </p:nvSpPr>
        <p:spPr>
          <a:xfrm rot="9608687">
            <a:off x="2766316" y="2652997"/>
            <a:ext cx="3499895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ABA9D32-7821-631E-3DA4-F99142959FA8}"/>
              </a:ext>
            </a:extLst>
          </p:cNvPr>
          <p:cNvSpPr/>
          <p:nvPr/>
        </p:nvSpPr>
        <p:spPr>
          <a:xfrm rot="7481709">
            <a:off x="1709408" y="3902000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96FC63-991A-B5C2-8552-6705A2A57B27}"/>
              </a:ext>
            </a:extLst>
          </p:cNvPr>
          <p:cNvSpPr/>
          <p:nvPr/>
        </p:nvSpPr>
        <p:spPr>
          <a:xfrm rot="7481709">
            <a:off x="886448" y="5065072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4F27EA3-A959-FD4D-A132-D3BB29AA6F24}"/>
              </a:ext>
            </a:extLst>
          </p:cNvPr>
          <p:cNvSpPr/>
          <p:nvPr/>
        </p:nvSpPr>
        <p:spPr>
          <a:xfrm rot="2150259">
            <a:off x="2731070" y="3915869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E64B222-EFEE-6C33-BA13-DBCE96FF4A7E}"/>
              </a:ext>
            </a:extLst>
          </p:cNvPr>
          <p:cNvSpPr/>
          <p:nvPr/>
        </p:nvSpPr>
        <p:spPr>
          <a:xfrm rot="7481709">
            <a:off x="3388035" y="4947607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AF38523-7E7B-FA86-408C-E874C1E62D12}"/>
              </a:ext>
            </a:extLst>
          </p:cNvPr>
          <p:cNvSpPr/>
          <p:nvPr/>
        </p:nvSpPr>
        <p:spPr>
          <a:xfrm rot="3318291">
            <a:off x="4234181" y="5161904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25AF3A3-A389-3794-35F1-C3C6808DB27C}"/>
              </a:ext>
            </a:extLst>
          </p:cNvPr>
          <p:cNvSpPr/>
          <p:nvPr/>
        </p:nvSpPr>
        <p:spPr>
          <a:xfrm rot="1542597">
            <a:off x="6121118" y="2658483"/>
            <a:ext cx="274015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C8017A0-3AD4-2911-31BD-0C22D1962EEA}"/>
              </a:ext>
            </a:extLst>
          </p:cNvPr>
          <p:cNvSpPr/>
          <p:nvPr/>
        </p:nvSpPr>
        <p:spPr>
          <a:xfrm rot="8649741">
            <a:off x="6843426" y="3826967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117B9B7-F32C-FBE3-ACD0-50889B203884}"/>
              </a:ext>
            </a:extLst>
          </p:cNvPr>
          <p:cNvSpPr/>
          <p:nvPr/>
        </p:nvSpPr>
        <p:spPr>
          <a:xfrm rot="3318293">
            <a:off x="6618723" y="5065071"/>
            <a:ext cx="1445792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A294C8-6567-F643-98A6-92D5625B8F54}"/>
              </a:ext>
            </a:extLst>
          </p:cNvPr>
          <p:cNvSpPr/>
          <p:nvPr/>
        </p:nvSpPr>
        <p:spPr>
          <a:xfrm rot="3318291">
            <a:off x="8302232" y="3856650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461C149-37D2-6B62-CE8D-1F4B64480322}"/>
              </a:ext>
            </a:extLst>
          </p:cNvPr>
          <p:cNvSpPr/>
          <p:nvPr/>
        </p:nvSpPr>
        <p:spPr>
          <a:xfrm>
            <a:off x="5852159" y="1828800"/>
            <a:ext cx="647341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9D50C8C-774E-354C-F4D7-CC5FD9D25A6C}"/>
              </a:ext>
            </a:extLst>
          </p:cNvPr>
          <p:cNvSpPr/>
          <p:nvPr/>
        </p:nvSpPr>
        <p:spPr>
          <a:xfrm>
            <a:off x="2560320" y="3017520"/>
            <a:ext cx="649370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F6BC465-47F1-9DDF-389F-49FE07B3266C}"/>
              </a:ext>
            </a:extLst>
          </p:cNvPr>
          <p:cNvSpPr/>
          <p:nvPr/>
        </p:nvSpPr>
        <p:spPr>
          <a:xfrm>
            <a:off x="1737360" y="4206240"/>
            <a:ext cx="622822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3570928-745B-2994-D7ED-0C86597C8DE5}"/>
              </a:ext>
            </a:extLst>
          </p:cNvPr>
          <p:cNvSpPr/>
          <p:nvPr/>
        </p:nvSpPr>
        <p:spPr>
          <a:xfrm>
            <a:off x="914400" y="5394960"/>
            <a:ext cx="635620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70FCE8B-5473-F703-2292-5A0265CF7922}"/>
              </a:ext>
            </a:extLst>
          </p:cNvPr>
          <p:cNvSpPr/>
          <p:nvPr/>
        </p:nvSpPr>
        <p:spPr>
          <a:xfrm>
            <a:off x="4206240" y="4206240"/>
            <a:ext cx="650136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061E654-0D99-ADC2-7608-AE88E95335F9}"/>
              </a:ext>
            </a:extLst>
          </p:cNvPr>
          <p:cNvSpPr/>
          <p:nvPr/>
        </p:nvSpPr>
        <p:spPr>
          <a:xfrm>
            <a:off x="3383280" y="5394960"/>
            <a:ext cx="653922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43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B957064-0E93-11F7-CD83-969B82ACF51F}"/>
              </a:ext>
            </a:extLst>
          </p:cNvPr>
          <p:cNvSpPr/>
          <p:nvPr/>
        </p:nvSpPr>
        <p:spPr>
          <a:xfrm>
            <a:off x="5029200" y="5394960"/>
            <a:ext cx="64903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45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B6F9210-4B43-D56D-E235-5F539E4BB9B1}"/>
              </a:ext>
            </a:extLst>
          </p:cNvPr>
          <p:cNvSpPr/>
          <p:nvPr/>
        </p:nvSpPr>
        <p:spPr>
          <a:xfrm>
            <a:off x="8321040" y="3017520"/>
            <a:ext cx="720990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70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A1D8369-B47A-E1FE-FD1C-B7DB1234DCA1}"/>
              </a:ext>
            </a:extLst>
          </p:cNvPr>
          <p:cNvSpPr/>
          <p:nvPr/>
        </p:nvSpPr>
        <p:spPr>
          <a:xfrm>
            <a:off x="6675119" y="4206240"/>
            <a:ext cx="66868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65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A47CD5A-D657-3BF8-FC27-D35E45DCCFF0}"/>
              </a:ext>
            </a:extLst>
          </p:cNvPr>
          <p:cNvSpPr/>
          <p:nvPr/>
        </p:nvSpPr>
        <p:spPr>
          <a:xfrm>
            <a:off x="7498079" y="5394960"/>
            <a:ext cx="64903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68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8BDBCB1-483A-BA5F-A9E2-ED6914C82161}"/>
              </a:ext>
            </a:extLst>
          </p:cNvPr>
          <p:cNvSpPr/>
          <p:nvPr/>
        </p:nvSpPr>
        <p:spPr>
          <a:xfrm>
            <a:off x="9055850" y="4227495"/>
            <a:ext cx="639474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85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F35589B-4977-E7FC-A6D2-B1A43E5BC654}"/>
              </a:ext>
            </a:extLst>
          </p:cNvPr>
          <p:cNvSpPr/>
          <p:nvPr/>
        </p:nvSpPr>
        <p:spPr>
          <a:xfrm>
            <a:off x="1603546" y="5212080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D21EC1E-18D1-97A0-2EDB-BD91A11365E2}"/>
              </a:ext>
            </a:extLst>
          </p:cNvPr>
          <p:cNvSpPr/>
          <p:nvPr/>
        </p:nvSpPr>
        <p:spPr>
          <a:xfrm>
            <a:off x="2422737" y="4092498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D1D9A30-506D-818C-274F-69A3C7A2A0C1}"/>
              </a:ext>
            </a:extLst>
          </p:cNvPr>
          <p:cNvSpPr/>
          <p:nvPr/>
        </p:nvSpPr>
        <p:spPr>
          <a:xfrm>
            <a:off x="2957821" y="5490623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D1FCFDD-5FD0-C8C5-EAA5-6AB6BE23DA25}"/>
              </a:ext>
            </a:extLst>
          </p:cNvPr>
          <p:cNvSpPr/>
          <p:nvPr/>
        </p:nvSpPr>
        <p:spPr>
          <a:xfrm>
            <a:off x="4564226" y="5567274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0AE62ED-1FE3-A602-5F79-D62F5468EF77}"/>
              </a:ext>
            </a:extLst>
          </p:cNvPr>
          <p:cNvSpPr/>
          <p:nvPr/>
        </p:nvSpPr>
        <p:spPr>
          <a:xfrm>
            <a:off x="4848972" y="3980114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5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8FA1C39-CF2B-C65D-5E88-9B8348411715}"/>
              </a:ext>
            </a:extLst>
          </p:cNvPr>
          <p:cNvSpPr/>
          <p:nvPr/>
        </p:nvSpPr>
        <p:spPr>
          <a:xfrm>
            <a:off x="3264476" y="3178641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C447F9C-EFE1-690A-B262-63DA78A05624}"/>
              </a:ext>
            </a:extLst>
          </p:cNvPr>
          <p:cNvSpPr/>
          <p:nvPr/>
        </p:nvSpPr>
        <p:spPr>
          <a:xfrm>
            <a:off x="7009140" y="5570572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B9B1A45-D9C1-B285-E938-9DFF0A726A7B}"/>
              </a:ext>
            </a:extLst>
          </p:cNvPr>
          <p:cNvSpPr/>
          <p:nvPr/>
        </p:nvSpPr>
        <p:spPr>
          <a:xfrm>
            <a:off x="7451673" y="4306824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C0412EF-31FE-B034-353B-F6D083FF2B39}"/>
              </a:ext>
            </a:extLst>
          </p:cNvPr>
          <p:cNvSpPr/>
          <p:nvPr/>
        </p:nvSpPr>
        <p:spPr>
          <a:xfrm>
            <a:off x="9853900" y="4334702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CE6269E-07EE-0896-323A-A6FB8488B563}"/>
              </a:ext>
            </a:extLst>
          </p:cNvPr>
          <p:cNvSpPr/>
          <p:nvPr/>
        </p:nvSpPr>
        <p:spPr>
          <a:xfrm>
            <a:off x="9086843" y="2726873"/>
            <a:ext cx="485155" cy="43409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87FC309-081E-0735-4240-A96C7454E033}"/>
              </a:ext>
            </a:extLst>
          </p:cNvPr>
          <p:cNvSpPr/>
          <p:nvPr/>
        </p:nvSpPr>
        <p:spPr>
          <a:xfrm>
            <a:off x="6558966" y="1608126"/>
            <a:ext cx="485155" cy="43409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86</TotalTime>
  <Words>207</Words>
  <Application>Microsoft Macintosh PowerPoint</Application>
  <PresentationFormat>Widescreen</PresentationFormat>
  <Paragraphs>99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Neue Haas Grotesk Text Pro</vt:lpstr>
      <vt:lpstr>Helena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Meyer, Dax</cp:lastModifiedBy>
  <cp:revision>3</cp:revision>
  <dcterms:created xsi:type="dcterms:W3CDTF">2013-01-27T09:14:16Z</dcterms:created>
  <dcterms:modified xsi:type="dcterms:W3CDTF">2026-09-19T18:29:18Z</dcterms:modified>
  <cp:category/>
</cp:coreProperties>
</file>