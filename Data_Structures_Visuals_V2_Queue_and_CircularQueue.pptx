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4" d="100"/>
          <a:sy n="114" d="100"/>
        </p:scale>
        <p:origin x="9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3F45-2B5F-DE4C-ECF4-014F10B33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D9BAB-86CF-153B-48BB-3017A4462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8C12-DE24-1A76-BAE3-E6C7588F9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B3B37-82F3-B724-2E8B-821224B5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B5534-EBE1-71A4-0694-F14ABDDE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0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3ABD-E110-EFBE-ADB2-4D6DC8C9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1140D-1866-DA9A-6001-42E53511A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7B53-8515-DBA5-CADD-A6BF973A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5DA40-095D-B0CD-8297-AC52AA8A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B266B-737E-4289-9A50-ED74E164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2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F89A-05F1-C92F-46DF-F94A0AF8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26243-B518-1ACC-DBA8-5279A6832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1D120-C613-EB46-1894-742D70C3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D194F-D3BE-D745-88B8-0E50329E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F00DE-EED7-86E2-2A01-ABE94467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8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221E-7941-C3B1-CCB6-B4C7F0AF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A3208-B20C-4DA0-8C90-C0123CA2D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6E00C-2067-FF8B-8840-343EFEDA2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8A508-7835-072D-19A3-962C747C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B31C4-E2B2-7E7E-4EDE-0D8E1116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944B9-4561-ACEA-7FCE-B21F3DA7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2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8BA6-B83E-FE4A-232E-035751ACB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5DED-F8E5-642A-B4C1-8631B353D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92E79-E300-79BD-974F-ABA34A715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4247C-D2E1-9A37-33E2-B02861E85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1A276-17B6-E64F-B075-94DE86A0A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B1325-27E0-DD1B-AA6D-30FACE3A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DE01D-BF3C-0E0E-ECF2-4B89705B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22C83-DC3B-35F2-E3F6-BA178D99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0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D23F-7BED-414F-164A-B792E7E7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ED438F-3B9D-5AA7-2EC6-2BF2155D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A6613-B847-CADD-E5E1-66183C74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3E454-0EEE-8AF5-BEF6-404F88BB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4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3CF72-603B-3062-6EBF-1053CEB6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313D4-4E6F-F18F-C830-2A2C8A2C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A0495-20DC-6A8B-4D84-86618B47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5675-CCE6-EB8E-FD12-8A925F99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12C3-4D27-3F32-16A1-5164EF9C6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09478-00F1-AC86-2626-48710F17A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D0DC1-9C1C-8957-0FD5-70504389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F438F-B410-6FD8-AFEB-3719F74F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D9965-0D7E-028E-0F42-DFA3D7C0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3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3142-33C0-0C1C-3692-4ECAAE87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BC1EE-A12B-66F5-2E25-CDAB64C4C96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3130A-FEA8-8B08-1DE3-68ECC41C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05D1F-F1EA-E751-0F8E-E0358E02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3E3C3-6C51-B238-9E3E-C15B36BE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F5CBB-7269-E961-3041-18D1F117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5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0BC4-826B-EC23-7FC2-DE88A853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3B2E3-6C84-A593-DDC8-45F659C0F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D15C3-F624-9FE9-7E11-85387FD5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DC65C-9931-DBCD-15E6-BE5D7A84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FE88E-62FC-F1D3-DBFF-2D326123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7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098B3-3D46-545A-EB8A-91D4937FB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18AED-6B1E-0471-9EFD-00EA46A42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982D-CD67-C97F-B26A-F7848EE0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94755-406E-C754-805C-C4F91560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91C68-EC68-0BF2-06BA-C46523BB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7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A8CF4-5952-09F2-9ADE-25C15EFB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0C825-3510-DC93-AD1B-86E6B722C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3A8B7-0835-2AE9-0CD5-67CF38684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2C6D-4791-4C39-CCE3-8C110E7BC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DB5F-F546-80BF-2C78-59F665151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6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1A3966-7210-ECB9-FCCC-943319B7665C}"/>
              </a:ext>
            </a:extLst>
          </p:cNvPr>
          <p:cNvSpPr/>
          <p:nvPr/>
        </p:nvSpPr>
        <p:spPr>
          <a:xfrm>
            <a:off x="365760" y="274320"/>
            <a:ext cx="11460175" cy="109728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Stack Operations (LIFO)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A stack follows Last In, First Out (LIFO) — the last item added is the first item removed.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3B4B4F9-3180-B2EA-98C0-4B722690CD44}"/>
              </a:ext>
            </a:extLst>
          </p:cNvPr>
          <p:cNvSpPr/>
          <p:nvPr/>
        </p:nvSpPr>
        <p:spPr>
          <a:xfrm>
            <a:off x="365760" y="1554480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8E40C9-77BA-63DE-03C7-B1CBDF71128B}"/>
              </a:ext>
            </a:extLst>
          </p:cNvPr>
          <p:cNvSpPr/>
          <p:nvPr/>
        </p:nvSpPr>
        <p:spPr>
          <a:xfrm>
            <a:off x="475488" y="1664208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6C7F6-2B29-9A35-CEFF-D4362EA0617C}"/>
              </a:ext>
            </a:extLst>
          </p:cNvPr>
          <p:cNvSpPr txBox="1"/>
          <p:nvPr/>
        </p:nvSpPr>
        <p:spPr>
          <a:xfrm>
            <a:off x="841248" y="1664208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Empty 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30FE1F-1885-A41E-5576-21E5A9977D39}"/>
              </a:ext>
            </a:extLst>
          </p:cNvPr>
          <p:cNvSpPr/>
          <p:nvPr/>
        </p:nvSpPr>
        <p:spPr>
          <a:xfrm>
            <a:off x="749808" y="2788920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C9D4C-317B-352F-E90A-51A0CC06D532}"/>
              </a:ext>
            </a:extLst>
          </p:cNvPr>
          <p:cNvSpPr/>
          <p:nvPr/>
        </p:nvSpPr>
        <p:spPr>
          <a:xfrm>
            <a:off x="713232" y="2752344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BAC34-EBC7-04B2-006E-9728C24C68FB}"/>
              </a:ext>
            </a:extLst>
          </p:cNvPr>
          <p:cNvSpPr txBox="1"/>
          <p:nvPr/>
        </p:nvSpPr>
        <p:spPr>
          <a:xfrm>
            <a:off x="457200" y="496519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(empty)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DAAB56-0E84-D84A-81FA-8B4A5B221DF1}"/>
              </a:ext>
            </a:extLst>
          </p:cNvPr>
          <p:cNvSpPr/>
          <p:nvPr/>
        </p:nvSpPr>
        <p:spPr>
          <a:xfrm>
            <a:off x="457200" y="5440680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/>
              <a:t>The stack is empty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at the beginning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sz="12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171B4A9-11CF-2D76-8721-2980CFEAE18F}"/>
              </a:ext>
            </a:extLst>
          </p:cNvPr>
          <p:cNvSpPr/>
          <p:nvPr/>
        </p:nvSpPr>
        <p:spPr>
          <a:xfrm>
            <a:off x="2688336" y="1554480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C1F47E-D593-CE77-FB7A-6E1FA6A89D93}"/>
              </a:ext>
            </a:extLst>
          </p:cNvPr>
          <p:cNvSpPr/>
          <p:nvPr/>
        </p:nvSpPr>
        <p:spPr>
          <a:xfrm>
            <a:off x="2798064" y="1664208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7573E5-F4A2-C00F-331C-C7D884028F8C}"/>
              </a:ext>
            </a:extLst>
          </p:cNvPr>
          <p:cNvSpPr txBox="1"/>
          <p:nvPr/>
        </p:nvSpPr>
        <p:spPr>
          <a:xfrm>
            <a:off x="3163824" y="1664208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Push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1D964-E69F-3346-E547-392591D44F3A}"/>
              </a:ext>
            </a:extLst>
          </p:cNvPr>
          <p:cNvSpPr/>
          <p:nvPr/>
        </p:nvSpPr>
        <p:spPr>
          <a:xfrm>
            <a:off x="3072384" y="2788920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D510DA-1777-8FAF-C09D-F1C5165D4F4B}"/>
              </a:ext>
            </a:extLst>
          </p:cNvPr>
          <p:cNvSpPr/>
          <p:nvPr/>
        </p:nvSpPr>
        <p:spPr>
          <a:xfrm>
            <a:off x="3035808" y="2752344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FD6D160-8346-CDB8-F74C-9DDBF5120A19}"/>
              </a:ext>
            </a:extLst>
          </p:cNvPr>
          <p:cNvSpPr/>
          <p:nvPr/>
        </p:nvSpPr>
        <p:spPr>
          <a:xfrm>
            <a:off x="3145536" y="4343400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559847-8AF9-A69B-5C8A-E416695D642B}"/>
              </a:ext>
            </a:extLst>
          </p:cNvPr>
          <p:cNvSpPr/>
          <p:nvPr/>
        </p:nvSpPr>
        <p:spPr>
          <a:xfrm>
            <a:off x="3392424" y="2103120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738FB2CD-A3A9-01A4-E76A-97CC4A2469E6}"/>
              </a:ext>
            </a:extLst>
          </p:cNvPr>
          <p:cNvSpPr/>
          <p:nvPr/>
        </p:nvSpPr>
        <p:spPr>
          <a:xfrm>
            <a:off x="3611880" y="2377440"/>
            <a:ext cx="292608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0FD40BEF-E850-5E9F-BAC0-409A87DA56FC}"/>
              </a:ext>
            </a:extLst>
          </p:cNvPr>
          <p:cNvSpPr/>
          <p:nvPr/>
        </p:nvSpPr>
        <p:spPr>
          <a:xfrm>
            <a:off x="4498848" y="4453128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FE8AB-293B-AAB5-66B8-B0A9C95D0807}"/>
              </a:ext>
            </a:extLst>
          </p:cNvPr>
          <p:cNvSpPr txBox="1"/>
          <p:nvPr/>
        </p:nvSpPr>
        <p:spPr>
          <a:xfrm>
            <a:off x="2779776" y="496519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1 item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E02FD89-E99A-FCCF-CBF0-1EFFDD19D254}"/>
              </a:ext>
            </a:extLst>
          </p:cNvPr>
          <p:cNvSpPr/>
          <p:nvPr/>
        </p:nvSpPr>
        <p:spPr>
          <a:xfrm>
            <a:off x="2779776" y="5440680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value 1 is pushed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onto the stack.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94ED63-7BA8-CFD0-C3FA-2175245E1709}"/>
              </a:ext>
            </a:extLst>
          </p:cNvPr>
          <p:cNvSpPr/>
          <p:nvPr/>
        </p:nvSpPr>
        <p:spPr>
          <a:xfrm>
            <a:off x="5010912" y="1554480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DB8809-DE27-9ED8-2A6D-861BD6E0AAFB}"/>
              </a:ext>
            </a:extLst>
          </p:cNvPr>
          <p:cNvSpPr/>
          <p:nvPr/>
        </p:nvSpPr>
        <p:spPr>
          <a:xfrm>
            <a:off x="5120640" y="1664208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2BD4D-3F4D-6083-4393-C5A2B7416EAB}"/>
              </a:ext>
            </a:extLst>
          </p:cNvPr>
          <p:cNvSpPr txBox="1"/>
          <p:nvPr/>
        </p:nvSpPr>
        <p:spPr>
          <a:xfrm>
            <a:off x="5486400" y="1664208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Push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E1ADB2-9DA8-86AC-E1F6-65CCAF09FA9C}"/>
              </a:ext>
            </a:extLst>
          </p:cNvPr>
          <p:cNvSpPr/>
          <p:nvPr/>
        </p:nvSpPr>
        <p:spPr>
          <a:xfrm>
            <a:off x="5394960" y="2788920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94F021-5D14-2E37-514E-44E0D20E858D}"/>
              </a:ext>
            </a:extLst>
          </p:cNvPr>
          <p:cNvSpPr/>
          <p:nvPr/>
        </p:nvSpPr>
        <p:spPr>
          <a:xfrm>
            <a:off x="5358384" y="2752344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410CDD5-F59B-B080-C57E-7AC27B8D8565}"/>
              </a:ext>
            </a:extLst>
          </p:cNvPr>
          <p:cNvSpPr/>
          <p:nvPr/>
        </p:nvSpPr>
        <p:spPr>
          <a:xfrm>
            <a:off x="5468112" y="4343400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C150C4A-51C4-3674-E43D-F91D381F2F39}"/>
              </a:ext>
            </a:extLst>
          </p:cNvPr>
          <p:cNvSpPr/>
          <p:nvPr/>
        </p:nvSpPr>
        <p:spPr>
          <a:xfrm>
            <a:off x="5468112" y="3813048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8B2FCF9-B452-6139-A383-F393F644BA3B}"/>
              </a:ext>
            </a:extLst>
          </p:cNvPr>
          <p:cNvSpPr/>
          <p:nvPr/>
        </p:nvSpPr>
        <p:spPr>
          <a:xfrm>
            <a:off x="5715000" y="2103120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73ECC142-5AC7-8530-94B2-B9332F5E1480}"/>
              </a:ext>
            </a:extLst>
          </p:cNvPr>
          <p:cNvSpPr/>
          <p:nvPr/>
        </p:nvSpPr>
        <p:spPr>
          <a:xfrm>
            <a:off x="5934456" y="2377440"/>
            <a:ext cx="292608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>
            <a:extLst>
              <a:ext uri="{FF2B5EF4-FFF2-40B4-BE49-F238E27FC236}">
                <a16:creationId xmlns:a16="http://schemas.microsoft.com/office/drawing/2014/main" id="{9FD2C384-1491-EA53-D572-03002D38A71E}"/>
              </a:ext>
            </a:extLst>
          </p:cNvPr>
          <p:cNvSpPr/>
          <p:nvPr/>
        </p:nvSpPr>
        <p:spPr>
          <a:xfrm>
            <a:off x="6821424" y="3922776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9CB986-625F-9C4B-5EEF-726078E033BE}"/>
              </a:ext>
            </a:extLst>
          </p:cNvPr>
          <p:cNvSpPr txBox="1"/>
          <p:nvPr/>
        </p:nvSpPr>
        <p:spPr>
          <a:xfrm>
            <a:off x="5102352" y="496519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2 items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DA2943B-705C-649A-6CE2-A628D376C739}"/>
              </a:ext>
            </a:extLst>
          </p:cNvPr>
          <p:cNvSpPr/>
          <p:nvPr/>
        </p:nvSpPr>
        <p:spPr>
          <a:xfrm>
            <a:off x="5102352" y="5440680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value 2 is pushed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onto the stack.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BCE8673-FA9A-5779-DEF4-BE64653F7EE8}"/>
              </a:ext>
            </a:extLst>
          </p:cNvPr>
          <p:cNvSpPr/>
          <p:nvPr/>
        </p:nvSpPr>
        <p:spPr>
          <a:xfrm>
            <a:off x="7333488" y="1554480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5F016D4-EFF8-858C-D654-162C10CE9E84}"/>
              </a:ext>
            </a:extLst>
          </p:cNvPr>
          <p:cNvSpPr/>
          <p:nvPr/>
        </p:nvSpPr>
        <p:spPr>
          <a:xfrm>
            <a:off x="7443216" y="1664208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00C78F-822D-BA83-011A-CCF7D34351BD}"/>
              </a:ext>
            </a:extLst>
          </p:cNvPr>
          <p:cNvSpPr txBox="1"/>
          <p:nvPr/>
        </p:nvSpPr>
        <p:spPr>
          <a:xfrm>
            <a:off x="7808976" y="1664208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Push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FFE1DB-EA36-99C1-28D0-555371AAF362}"/>
              </a:ext>
            </a:extLst>
          </p:cNvPr>
          <p:cNvSpPr/>
          <p:nvPr/>
        </p:nvSpPr>
        <p:spPr>
          <a:xfrm>
            <a:off x="7717536" y="2788920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32BECF-7F12-F8D2-A35A-5D5EED0A134C}"/>
              </a:ext>
            </a:extLst>
          </p:cNvPr>
          <p:cNvSpPr/>
          <p:nvPr/>
        </p:nvSpPr>
        <p:spPr>
          <a:xfrm>
            <a:off x="7680960" y="2752344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2EBB82F-48EA-6FC0-47D2-F9836667D040}"/>
              </a:ext>
            </a:extLst>
          </p:cNvPr>
          <p:cNvSpPr/>
          <p:nvPr/>
        </p:nvSpPr>
        <p:spPr>
          <a:xfrm>
            <a:off x="7790688" y="4343400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8C4A3E4-4CBA-942A-E11E-4462BA2CDE7B}"/>
              </a:ext>
            </a:extLst>
          </p:cNvPr>
          <p:cNvSpPr/>
          <p:nvPr/>
        </p:nvSpPr>
        <p:spPr>
          <a:xfrm>
            <a:off x="7790688" y="3813048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71C7434-4E54-3E5F-DB1E-1C32BC59507B}"/>
              </a:ext>
            </a:extLst>
          </p:cNvPr>
          <p:cNvSpPr/>
          <p:nvPr/>
        </p:nvSpPr>
        <p:spPr>
          <a:xfrm>
            <a:off x="7790688" y="3282696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190F4A7-ACE9-1059-0812-99C8619AEA03}"/>
              </a:ext>
            </a:extLst>
          </p:cNvPr>
          <p:cNvSpPr/>
          <p:nvPr/>
        </p:nvSpPr>
        <p:spPr>
          <a:xfrm>
            <a:off x="8037576" y="2103120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2471F7B0-5962-D269-E6B2-7A6749D4D19B}"/>
              </a:ext>
            </a:extLst>
          </p:cNvPr>
          <p:cNvSpPr/>
          <p:nvPr/>
        </p:nvSpPr>
        <p:spPr>
          <a:xfrm>
            <a:off x="8257032" y="2377440"/>
            <a:ext cx="292608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eft Arrow 42">
            <a:extLst>
              <a:ext uri="{FF2B5EF4-FFF2-40B4-BE49-F238E27FC236}">
                <a16:creationId xmlns:a16="http://schemas.microsoft.com/office/drawing/2014/main" id="{65CDDD5F-F6C1-B088-910D-05B6F853BC39}"/>
              </a:ext>
            </a:extLst>
          </p:cNvPr>
          <p:cNvSpPr/>
          <p:nvPr/>
        </p:nvSpPr>
        <p:spPr>
          <a:xfrm>
            <a:off x="9144000" y="3392424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E23B-120C-5A4A-226C-8E8FC30761A9}"/>
              </a:ext>
            </a:extLst>
          </p:cNvPr>
          <p:cNvSpPr txBox="1"/>
          <p:nvPr/>
        </p:nvSpPr>
        <p:spPr>
          <a:xfrm>
            <a:off x="7424928" y="496519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3 items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A99BD4-D94A-9E45-8345-5AC3C41CED6F}"/>
              </a:ext>
            </a:extLst>
          </p:cNvPr>
          <p:cNvSpPr/>
          <p:nvPr/>
        </p:nvSpPr>
        <p:spPr>
          <a:xfrm>
            <a:off x="7424928" y="5440680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value 3 is pushed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onto the stack.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A34EDA7-AE60-DBD6-5300-68AA570DD271}"/>
              </a:ext>
            </a:extLst>
          </p:cNvPr>
          <p:cNvSpPr/>
          <p:nvPr/>
        </p:nvSpPr>
        <p:spPr>
          <a:xfrm>
            <a:off x="9656064" y="1554480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DFC8BFF-EAE1-E0E2-A46D-6E9F3605FEB1}"/>
              </a:ext>
            </a:extLst>
          </p:cNvPr>
          <p:cNvSpPr/>
          <p:nvPr/>
        </p:nvSpPr>
        <p:spPr>
          <a:xfrm>
            <a:off x="9765792" y="1664208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F16236-174F-B6B6-91F4-8AB26FFE49D7}"/>
              </a:ext>
            </a:extLst>
          </p:cNvPr>
          <p:cNvSpPr txBox="1"/>
          <p:nvPr/>
        </p:nvSpPr>
        <p:spPr>
          <a:xfrm>
            <a:off x="10131552" y="1664208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Pop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DB64F6-F6D7-91BE-C638-C7408BABDB61}"/>
              </a:ext>
            </a:extLst>
          </p:cNvPr>
          <p:cNvSpPr/>
          <p:nvPr/>
        </p:nvSpPr>
        <p:spPr>
          <a:xfrm>
            <a:off x="10040112" y="2788920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F11E08-B844-AA05-26B7-956ADCEB1224}"/>
              </a:ext>
            </a:extLst>
          </p:cNvPr>
          <p:cNvSpPr/>
          <p:nvPr/>
        </p:nvSpPr>
        <p:spPr>
          <a:xfrm>
            <a:off x="10003536" y="2752344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168C261-7994-8883-8968-B4913C033AC1}"/>
              </a:ext>
            </a:extLst>
          </p:cNvPr>
          <p:cNvSpPr/>
          <p:nvPr/>
        </p:nvSpPr>
        <p:spPr>
          <a:xfrm>
            <a:off x="10113264" y="4343400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EBB47DF-3606-347B-431D-EFCDC55B8513}"/>
              </a:ext>
            </a:extLst>
          </p:cNvPr>
          <p:cNvSpPr/>
          <p:nvPr/>
        </p:nvSpPr>
        <p:spPr>
          <a:xfrm>
            <a:off x="10113264" y="3813048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539E587D-F835-A9B5-5FBD-A86C37957D4B}"/>
              </a:ext>
            </a:extLst>
          </p:cNvPr>
          <p:cNvSpPr/>
          <p:nvPr/>
        </p:nvSpPr>
        <p:spPr>
          <a:xfrm>
            <a:off x="10405872" y="2103120"/>
            <a:ext cx="640080" cy="23774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POP</a:t>
            </a:r>
          </a:p>
        </p:txBody>
      </p:sp>
      <p:sp>
        <p:nvSpPr>
          <p:cNvPr id="54" name="Up Arrow 53">
            <a:extLst>
              <a:ext uri="{FF2B5EF4-FFF2-40B4-BE49-F238E27FC236}">
                <a16:creationId xmlns:a16="http://schemas.microsoft.com/office/drawing/2014/main" id="{91E89E1B-E2B4-B160-2910-A6FC3DF29A54}"/>
              </a:ext>
            </a:extLst>
          </p:cNvPr>
          <p:cNvSpPr/>
          <p:nvPr/>
        </p:nvSpPr>
        <p:spPr>
          <a:xfrm>
            <a:off x="10579608" y="2377440"/>
            <a:ext cx="292608" cy="365760"/>
          </a:xfrm>
          <a:prstGeom prst="up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eft Arrow 54">
            <a:extLst>
              <a:ext uri="{FF2B5EF4-FFF2-40B4-BE49-F238E27FC236}">
                <a16:creationId xmlns:a16="http://schemas.microsoft.com/office/drawing/2014/main" id="{28BB89B6-5323-065A-D991-CCEE207AC321}"/>
              </a:ext>
            </a:extLst>
          </p:cNvPr>
          <p:cNvSpPr/>
          <p:nvPr/>
        </p:nvSpPr>
        <p:spPr>
          <a:xfrm>
            <a:off x="11466576" y="3922776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6923F2-4E21-6FEC-5689-9FB643F6C8E1}"/>
              </a:ext>
            </a:extLst>
          </p:cNvPr>
          <p:cNvSpPr txBox="1"/>
          <p:nvPr/>
        </p:nvSpPr>
        <p:spPr>
          <a:xfrm>
            <a:off x="9747504" y="496519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2 items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264A519-5D00-2345-B30E-50BCA6728996}"/>
              </a:ext>
            </a:extLst>
          </p:cNvPr>
          <p:cNvSpPr/>
          <p:nvPr/>
        </p:nvSpPr>
        <p:spPr>
          <a:xfrm>
            <a:off x="9747504" y="5440680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top item (3) is popped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from the stack.</a:t>
            </a:r>
          </a:p>
        </p:txBody>
      </p:sp>
    </p:spTree>
    <p:extLst>
      <p:ext uri="{BB962C8B-B14F-4D97-AF65-F5344CB8AC3E}">
        <p14:creationId xmlns:p14="http://schemas.microsoft.com/office/powerpoint/2010/main" val="412475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143000"/>
          </a:xfrm>
          <a:prstGeom prst="rect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Queue (FIFO)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A queue follows First In, First Out (FIFO) — the first item added is the first item removed.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Left Arrow 7"/>
          <p:cNvSpPr/>
          <p:nvPr/>
        </p:nvSpPr>
        <p:spPr>
          <a:xfrm>
            <a:off x="3749039" y="2194560"/>
            <a:ext cx="1828800" cy="164592"/>
          </a:xfrm>
          <a:prstGeom prst="lef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223760" y="2194560"/>
            <a:ext cx="1828800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8657" y="19696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</a:defRPr>
            </a:pPr>
            <a:r>
              <a:rPr dirty="0"/>
              <a:t>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3700" y="1810512"/>
            <a:ext cx="10972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FRONT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086100" y="2272284"/>
            <a:ext cx="182880" cy="45720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8171" y="2834640"/>
            <a:ext cx="1188720" cy="42062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DEQUEUE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480560"/>
            <a:ext cx="1005840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REAR</a:t>
            </a:r>
          </a:p>
        </p:txBody>
      </p:sp>
      <p:sp>
        <p:nvSpPr>
          <p:cNvPr id="16" name="Up Arrow 15"/>
          <p:cNvSpPr/>
          <p:nvPr/>
        </p:nvSpPr>
        <p:spPr>
          <a:xfrm>
            <a:off x="9738360" y="4023360"/>
            <a:ext cx="182880" cy="411480"/>
          </a:xfrm>
          <a:prstGeom prst="up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57649" y="2621429"/>
            <a:ext cx="1280160" cy="43891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ENQUEUE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20640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FRONT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Points to the first item in the queue (the next item to be removed).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5120640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REAR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Points to the last item in the queue (the next position to add an item).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20640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DEQUEUE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Removes the item from the front of the queue.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5120640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ENQUEUE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Adds an item to the queue.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57DBE1-A1AA-D6A5-90C3-5F032CB83A51}"/>
              </a:ext>
            </a:extLst>
          </p:cNvPr>
          <p:cNvSpPr/>
          <p:nvPr/>
        </p:nvSpPr>
        <p:spPr>
          <a:xfrm>
            <a:off x="1787541" y="2941914"/>
            <a:ext cx="722598" cy="23328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Bent Arrow 24">
            <a:extLst>
              <a:ext uri="{FF2B5EF4-FFF2-40B4-BE49-F238E27FC236}">
                <a16:creationId xmlns:a16="http://schemas.microsoft.com/office/drawing/2014/main" id="{14E37774-AB13-3CD3-C85E-268A94D9622E}"/>
              </a:ext>
            </a:extLst>
          </p:cNvPr>
          <p:cNvSpPr/>
          <p:nvPr/>
        </p:nvSpPr>
        <p:spPr>
          <a:xfrm flipH="1" flipV="1">
            <a:off x="11002030" y="3175198"/>
            <a:ext cx="771799" cy="411480"/>
          </a:xfrm>
          <a:prstGeom prst="ben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143000"/>
          </a:xfrm>
          <a:prstGeom prst="rect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Circular Queue Representation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In a circular queue, when the end of the array is reached, the next position wraps around to the beginning of the array.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57018" y="2575932"/>
            <a:ext cx="1463040" cy="100584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59764" y="2575932"/>
            <a:ext cx="146304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12557" y="3950616"/>
            <a:ext cx="1463040" cy="10058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4861" y="5118854"/>
            <a:ext cx="146304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931920"/>
            <a:ext cx="146304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9338" y="3483603"/>
            <a:ext cx="1005840" cy="36576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Front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86776" y="2987132"/>
            <a:ext cx="1005840" cy="3657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Rear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78" y="2438492"/>
            <a:ext cx="4206240" cy="914400"/>
          </a:xfrm>
          <a:prstGeom prst="roundRect">
            <a:avLst/>
          </a:prstGeom>
          <a:solidFill>
            <a:srgbClr val="CFE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rPr dirty="0"/>
              <a:t>New element can be inserted by </a:t>
            </a:r>
            <a:r>
              <a:t>incrementing Rear.</a:t>
            </a:r>
            <a:endParaRPr dirty="0"/>
          </a:p>
        </p:txBody>
      </p:sp>
      <p:sp>
        <p:nvSpPr>
          <p:cNvPr id="19" name="Right Arrow 18"/>
          <p:cNvSpPr/>
          <p:nvPr/>
        </p:nvSpPr>
        <p:spPr>
          <a:xfrm>
            <a:off x="4463831" y="2841550"/>
            <a:ext cx="1005840" cy="16307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61" y="32160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5254" y="4328344"/>
            <a:ext cx="4389120" cy="179635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Front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Points to the first item in the queue (next to be removed).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Rear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Points to the last item in the queue (next position to add).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Light blue segment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Array location with a value.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0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Index position.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70B985-92B8-A4E5-D4D2-1C7E1E635378}"/>
              </a:ext>
            </a:extLst>
          </p:cNvPr>
          <p:cNvSpPr txBox="1"/>
          <p:nvPr/>
        </p:nvSpPr>
        <p:spPr>
          <a:xfrm>
            <a:off x="6172995" y="45684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E830BD-13EF-A730-E40D-C421BE830C5C}"/>
              </a:ext>
            </a:extLst>
          </p:cNvPr>
          <p:cNvSpPr txBox="1"/>
          <p:nvPr/>
        </p:nvSpPr>
        <p:spPr>
          <a:xfrm>
            <a:off x="7935802" y="575536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DAFD80-A35F-D1D2-0137-C2F508ACE310}"/>
              </a:ext>
            </a:extLst>
          </p:cNvPr>
          <p:cNvSpPr txBox="1"/>
          <p:nvPr/>
        </p:nvSpPr>
        <p:spPr>
          <a:xfrm>
            <a:off x="9467499" y="46295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40DAD-7DC3-E340-9F4B-B0B3D9316106}"/>
              </a:ext>
            </a:extLst>
          </p:cNvPr>
          <p:cNvSpPr txBox="1"/>
          <p:nvPr/>
        </p:nvSpPr>
        <p:spPr>
          <a:xfrm>
            <a:off x="8801554" y="32443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" name="Bent Arrow 3">
            <a:extLst>
              <a:ext uri="{FF2B5EF4-FFF2-40B4-BE49-F238E27FC236}">
                <a16:creationId xmlns:a16="http://schemas.microsoft.com/office/drawing/2014/main" id="{9B9E0880-10BF-A3F9-5D24-F018037AEE8A}"/>
              </a:ext>
            </a:extLst>
          </p:cNvPr>
          <p:cNvSpPr/>
          <p:nvPr/>
        </p:nvSpPr>
        <p:spPr>
          <a:xfrm flipV="1">
            <a:off x="3688824" y="3950616"/>
            <a:ext cx="1193187" cy="276475"/>
          </a:xfrm>
          <a:prstGeom prst="ben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C16B6B8-6859-883D-304D-3EFE6060D1F6}"/>
              </a:ext>
            </a:extLst>
          </p:cNvPr>
          <p:cNvSpPr/>
          <p:nvPr/>
        </p:nvSpPr>
        <p:spPr>
          <a:xfrm flipH="1">
            <a:off x="9327319" y="3047032"/>
            <a:ext cx="1154942" cy="19730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303</Words>
  <Application>Microsoft Macintosh PowerPoint</Application>
  <PresentationFormat>Widescreen</PresentationFormat>
  <Paragraphs>86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Meyer, Dax</cp:lastModifiedBy>
  <cp:revision>5</cp:revision>
  <dcterms:created xsi:type="dcterms:W3CDTF">2013-01-27T09:14:16Z</dcterms:created>
  <dcterms:modified xsi:type="dcterms:W3CDTF">2026-09-19T16:50:06Z</dcterms:modified>
  <cp:category/>
</cp:coreProperties>
</file>