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56" r:id="rId2"/>
    <p:sldId id="274" r:id="rId3"/>
    <p:sldId id="281" r:id="rId4"/>
    <p:sldId id="282" r:id="rId5"/>
    <p:sldId id="283" r:id="rId6"/>
    <p:sldId id="284" r:id="rId7"/>
    <p:sldId id="285" r:id="rId8"/>
    <p:sldId id="286" r:id="rId9"/>
    <p:sldId id="260" r:id="rId10"/>
    <p:sldId id="261" r:id="rId11"/>
    <p:sldId id="275" r:id="rId12"/>
    <p:sldId id="263" r:id="rId13"/>
    <p:sldId id="257" r:id="rId14"/>
    <p:sldId id="276" r:id="rId15"/>
    <p:sldId id="277" r:id="rId16"/>
    <p:sldId id="278" r:id="rId17"/>
    <p:sldId id="279" r:id="rId18"/>
    <p:sldId id="280" r:id="rId19"/>
    <p:sldId id="266" r:id="rId20"/>
    <p:sldId id="267" r:id="rId21"/>
    <p:sldId id="268" r:id="rId22"/>
    <p:sldId id="287" r:id="rId23"/>
    <p:sldId id="258" r:id="rId24"/>
    <p:sldId id="288" r:id="rId25"/>
    <p:sldId id="259" r:id="rId26"/>
    <p:sldId id="272" r:id="rId27"/>
    <p:sldId id="2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 snapToObjects="1">
      <p:cViewPr varScale="1">
        <p:scale>
          <a:sx n="114" d="100"/>
          <a:sy n="114" d="100"/>
        </p:scale>
        <p:origin x="9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57D0-E0C6-D805-D53A-C920969EC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0A019-744D-D780-90E1-01852B029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84618-4A19-F388-3DE3-16CDB481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6A241-D31E-F1B9-9FA7-53705CAB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53022-A76B-3D29-877F-6E1B68F7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4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5AD66-A34F-C70E-B3A4-DC786A10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5B277-8C29-2AC8-FE31-7A23F489D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B52D9-25AB-A4BC-CCD4-EF6C5036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C9700-D497-3357-9D41-16475C247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F36CE-25EB-FEDE-C7BD-E10A07DCB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97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67F-FB46-158A-6DC4-48E29F39C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AC91D-E82C-6466-CE66-E867B28FC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649A2-AF83-6DB8-0E9A-AA8F7DA1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6AB3E-04AA-A764-C616-986969D1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ACBB7-F5B7-E576-5211-6F1EA3BB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50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EA6A3-0290-1DB5-1467-2B907E63A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75447-4AB4-60FC-2EEE-18E39DE9C4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926B4-FFF5-61BF-BD6C-A69E5D565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43B3D-FABD-8FD2-C901-CBD04B25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9C399-6900-CD39-3F48-98E19BF18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5905F-12BD-E494-7F0B-E28DEE00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60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F68AA-5F28-33F4-5860-6C84CE74C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577A0-00DF-3036-7405-E3BA1700B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4A943-281A-DE18-2B3D-93E7C388C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E8911-F5C9-0EB4-9D1E-15EE496BEF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28C023-3AF1-332C-21AC-ADFD3E3D0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E85269-CF8F-AFB2-F511-CEE49DE4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F5A637-262D-2975-1551-669B2F1A7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B038C7-5D08-A8D4-7BBD-794912998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0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F152-83CC-49C2-8445-14358142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0D58F-C028-3B59-B18E-BC96F0E62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B293E3-E4FA-C9A7-3FCC-FACB2A53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AEC4E-FFB9-8ADE-8751-98EC0060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71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95154-4E2D-B3F3-4E4D-3EE1A9AD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3DB40-A269-5A74-04B8-464D51BBB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B4F76-AF5D-F58B-1448-3EF8C654B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85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0FFC2-D45A-D493-C944-EFB000921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A6985-EC69-4E78-9A6B-ACD16FDB6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71DFE-074E-E9CE-5CF6-DEF9B0FD4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4D24B-E10C-11B5-593C-FC5783FC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82EFC-91A8-B946-D0BE-17B0214B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3AEC6-72DB-8099-226B-19C9DF86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E5EF2-16A6-EEDC-1DE7-ED9139C33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319C36-BF03-E35D-BF1C-60E62F57E62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8525-6398-48E4-8AF2-CD7481DBA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6CB4D-94AB-B93E-1FF9-5FB6CA4A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418EA-4494-8703-6AE3-47FB409B6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8318D-9713-42E0-0471-C171FE6EA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4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FBA8-C0B9-3B34-FD09-F8A9BC2B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7A0D71-0443-CF8E-A1BC-D336B4EB4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E15DD-222C-3929-14C8-4CB95FE2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F95FE-5391-1B39-BA5C-739C1828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F2BA8-3B0D-B7E6-4385-98FD4523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6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5D011D-AC3A-0476-107C-99C9170E8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ADA62-451B-4D96-DC87-DBDF41CA1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1A304-DEFF-411D-F23F-C37DFD7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7B2B7-1220-E2D6-8B9B-67FD89E5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0D082-30C1-E205-6276-CAA07D54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77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3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4F4E4-E734-C2CF-35B6-DC4D4151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DBAFE-037E-D151-9129-B04571ACB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95D77-8CA1-C28B-FF11-4895DB4AD0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083E9-1EAB-1CFF-2BE3-15C1B181F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C3628-228A-F5CE-5C30-CA27E2C3B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2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Stacks, Circular Queues,</a:t>
            </a:r>
            <a:br/>
            <a:r>
              <a:t>and Binary Search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EE6E6"/>
                </a:solidFill>
              </a:defRPr>
            </a:pPr>
            <a:r>
              <a:t>Understanding core data structures, operations, and traversal methods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1A3966-7210-ECB9-FCCC-943319B7665C}"/>
              </a:ext>
            </a:extLst>
          </p:cNvPr>
          <p:cNvSpPr/>
          <p:nvPr/>
        </p:nvSpPr>
        <p:spPr>
          <a:xfrm>
            <a:off x="365760" y="36576"/>
            <a:ext cx="11460175" cy="1097280"/>
          </a:xfrm>
          <a:prstGeom prst="rect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Stack Operations (LIFO)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A stack follows Last In, First Out (LIFO) — the last item added is the first item removed.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3B4B4F9-3180-B2EA-98C0-4B722690CD44}"/>
              </a:ext>
            </a:extLst>
          </p:cNvPr>
          <p:cNvSpPr/>
          <p:nvPr/>
        </p:nvSpPr>
        <p:spPr>
          <a:xfrm>
            <a:off x="386791" y="1228803"/>
            <a:ext cx="2148840" cy="49377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D0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D8E40C9-77BA-63DE-03C7-B1CBDF71128B}"/>
              </a:ext>
            </a:extLst>
          </p:cNvPr>
          <p:cNvSpPr/>
          <p:nvPr/>
        </p:nvSpPr>
        <p:spPr>
          <a:xfrm>
            <a:off x="496519" y="1338531"/>
            <a:ext cx="329184" cy="329184"/>
          </a:xfrm>
          <a:prstGeom prst="ellipse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E6C7F6-2B29-9A35-CEFF-D4362EA0617C}"/>
              </a:ext>
            </a:extLst>
          </p:cNvPr>
          <p:cNvSpPr txBox="1"/>
          <p:nvPr/>
        </p:nvSpPr>
        <p:spPr>
          <a:xfrm>
            <a:off x="862279" y="1338531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C68"/>
                </a:solidFill>
              </a:defRPr>
            </a:pPr>
            <a:r>
              <a:t>Empty Stack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30FE1F-1885-A41E-5576-21E5A9977D39}"/>
              </a:ext>
            </a:extLst>
          </p:cNvPr>
          <p:cNvSpPr/>
          <p:nvPr/>
        </p:nvSpPr>
        <p:spPr>
          <a:xfrm>
            <a:off x="770839" y="2463243"/>
            <a:ext cx="1371600" cy="2103120"/>
          </a:xfrm>
          <a:prstGeom prst="rect">
            <a:avLst/>
          </a:prstGeom>
          <a:solidFill>
            <a:srgbClr val="F8FBFE"/>
          </a:solidFill>
          <a:ln w="44450">
            <a:solidFill>
              <a:srgbClr val="0B3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CC9D4C-317B-352F-E90A-51A0CC06D532}"/>
              </a:ext>
            </a:extLst>
          </p:cNvPr>
          <p:cNvSpPr/>
          <p:nvPr/>
        </p:nvSpPr>
        <p:spPr>
          <a:xfrm>
            <a:off x="734263" y="2426667"/>
            <a:ext cx="1444752" cy="914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BAC34-EBC7-04B2-006E-9728C24C68FB}"/>
              </a:ext>
            </a:extLst>
          </p:cNvPr>
          <p:cNvSpPr txBox="1"/>
          <p:nvPr/>
        </p:nvSpPr>
        <p:spPr>
          <a:xfrm>
            <a:off x="478231" y="4639515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3C68"/>
                </a:solidFill>
              </a:defRPr>
            </a:pPr>
            <a:r>
              <a:t>(empty)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DAAB56-0E84-D84A-81FA-8B4A5B221DF1}"/>
              </a:ext>
            </a:extLst>
          </p:cNvPr>
          <p:cNvSpPr/>
          <p:nvPr/>
        </p:nvSpPr>
        <p:spPr>
          <a:xfrm>
            <a:off x="478231" y="5115003"/>
            <a:ext cx="1965960" cy="914400"/>
          </a:xfrm>
          <a:prstGeom prst="roundRect">
            <a:avLst/>
          </a:prstGeom>
          <a:solidFill>
            <a:srgbClr val="E4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F2D46"/>
                </a:solidFill>
              </a:defRPr>
            </a:pPr>
            <a:r>
              <a:rPr sz="1200" dirty="0"/>
              <a:t>The stack is empty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at the beginning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  <a:endParaRPr sz="12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171B4A9-11CF-2D76-8721-2980CFEAE18F}"/>
              </a:ext>
            </a:extLst>
          </p:cNvPr>
          <p:cNvSpPr/>
          <p:nvPr/>
        </p:nvSpPr>
        <p:spPr>
          <a:xfrm>
            <a:off x="2709367" y="1228803"/>
            <a:ext cx="2148840" cy="49377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D0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C1F47E-D593-CE77-FB7A-6E1FA6A89D93}"/>
              </a:ext>
            </a:extLst>
          </p:cNvPr>
          <p:cNvSpPr/>
          <p:nvPr/>
        </p:nvSpPr>
        <p:spPr>
          <a:xfrm>
            <a:off x="2819095" y="1338531"/>
            <a:ext cx="329184" cy="329184"/>
          </a:xfrm>
          <a:prstGeom prst="ellipse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7573E5-F4A2-C00F-331C-C7D884028F8C}"/>
              </a:ext>
            </a:extLst>
          </p:cNvPr>
          <p:cNvSpPr txBox="1"/>
          <p:nvPr/>
        </p:nvSpPr>
        <p:spPr>
          <a:xfrm>
            <a:off x="3184855" y="1338531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C68"/>
                </a:solidFill>
              </a:defRPr>
            </a:pPr>
            <a:r>
              <a:t>Push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D1D964-E69F-3346-E547-392591D44F3A}"/>
              </a:ext>
            </a:extLst>
          </p:cNvPr>
          <p:cNvSpPr/>
          <p:nvPr/>
        </p:nvSpPr>
        <p:spPr>
          <a:xfrm>
            <a:off x="3093415" y="2463243"/>
            <a:ext cx="1371600" cy="2103120"/>
          </a:xfrm>
          <a:prstGeom prst="rect">
            <a:avLst/>
          </a:prstGeom>
          <a:solidFill>
            <a:srgbClr val="F8FBFE"/>
          </a:solidFill>
          <a:ln w="44450">
            <a:solidFill>
              <a:srgbClr val="0B3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D510DA-1777-8FAF-C09D-F1C5165D4F4B}"/>
              </a:ext>
            </a:extLst>
          </p:cNvPr>
          <p:cNvSpPr/>
          <p:nvPr/>
        </p:nvSpPr>
        <p:spPr>
          <a:xfrm>
            <a:off x="3056839" y="2426667"/>
            <a:ext cx="1444752" cy="914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FD6D160-8346-CDB8-F74C-9DDBF5120A19}"/>
              </a:ext>
            </a:extLst>
          </p:cNvPr>
          <p:cNvSpPr/>
          <p:nvPr/>
        </p:nvSpPr>
        <p:spPr>
          <a:xfrm>
            <a:off x="3166567" y="4017723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2559847-8AF9-A69B-5C8A-E416695D642B}"/>
              </a:ext>
            </a:extLst>
          </p:cNvPr>
          <p:cNvSpPr/>
          <p:nvPr/>
        </p:nvSpPr>
        <p:spPr>
          <a:xfrm>
            <a:off x="3413455" y="1777443"/>
            <a:ext cx="731520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PUSH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738FB2CD-A3A9-01A4-E76A-97CC4A2469E6}"/>
              </a:ext>
            </a:extLst>
          </p:cNvPr>
          <p:cNvSpPr/>
          <p:nvPr/>
        </p:nvSpPr>
        <p:spPr>
          <a:xfrm>
            <a:off x="3632911" y="2051763"/>
            <a:ext cx="292608" cy="3657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0FD40BEF-E850-5E9F-BAC0-409A87DA56FC}"/>
              </a:ext>
            </a:extLst>
          </p:cNvPr>
          <p:cNvSpPr/>
          <p:nvPr/>
        </p:nvSpPr>
        <p:spPr>
          <a:xfrm>
            <a:off x="4519879" y="4127451"/>
            <a:ext cx="502920" cy="237744"/>
          </a:xfrm>
          <a:prstGeom prst="lef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5FE8AB-293B-AAB5-66B8-B0A9C95D0807}"/>
              </a:ext>
            </a:extLst>
          </p:cNvPr>
          <p:cNvSpPr txBox="1"/>
          <p:nvPr/>
        </p:nvSpPr>
        <p:spPr>
          <a:xfrm>
            <a:off x="2800807" y="4639515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3C68"/>
                </a:solidFill>
              </a:defRPr>
            </a:pPr>
            <a:r>
              <a:t>1 item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E02FD89-E99A-FCCF-CBF0-1EFFDD19D254}"/>
              </a:ext>
            </a:extLst>
          </p:cNvPr>
          <p:cNvSpPr/>
          <p:nvPr/>
        </p:nvSpPr>
        <p:spPr>
          <a:xfrm>
            <a:off x="2800807" y="5115003"/>
            <a:ext cx="1965960" cy="914400"/>
          </a:xfrm>
          <a:prstGeom prst="roundRect">
            <a:avLst/>
          </a:prstGeom>
          <a:solidFill>
            <a:srgbClr val="E4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F2D46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The value 1 is pushed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onto the stack.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794ED63-7BA8-CFD0-C3FA-2175245E1709}"/>
              </a:ext>
            </a:extLst>
          </p:cNvPr>
          <p:cNvSpPr/>
          <p:nvPr/>
        </p:nvSpPr>
        <p:spPr>
          <a:xfrm>
            <a:off x="5031943" y="1228803"/>
            <a:ext cx="2148840" cy="49377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D0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DB8809-DE27-9ED8-2A6D-861BD6E0AAFB}"/>
              </a:ext>
            </a:extLst>
          </p:cNvPr>
          <p:cNvSpPr/>
          <p:nvPr/>
        </p:nvSpPr>
        <p:spPr>
          <a:xfrm>
            <a:off x="5141671" y="1338531"/>
            <a:ext cx="329184" cy="329184"/>
          </a:xfrm>
          <a:prstGeom prst="ellipse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52BD4D-3F4D-6083-4393-C5A2B7416EAB}"/>
              </a:ext>
            </a:extLst>
          </p:cNvPr>
          <p:cNvSpPr txBox="1"/>
          <p:nvPr/>
        </p:nvSpPr>
        <p:spPr>
          <a:xfrm>
            <a:off x="5507431" y="1338531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C68"/>
                </a:solidFill>
              </a:defRPr>
            </a:pPr>
            <a:r>
              <a:t>Push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E1ADB2-9DA8-86AC-E1F6-65CCAF09FA9C}"/>
              </a:ext>
            </a:extLst>
          </p:cNvPr>
          <p:cNvSpPr/>
          <p:nvPr/>
        </p:nvSpPr>
        <p:spPr>
          <a:xfrm>
            <a:off x="5415991" y="2463243"/>
            <a:ext cx="1371600" cy="2103120"/>
          </a:xfrm>
          <a:prstGeom prst="rect">
            <a:avLst/>
          </a:prstGeom>
          <a:solidFill>
            <a:srgbClr val="F8FBFE"/>
          </a:solidFill>
          <a:ln w="44450">
            <a:solidFill>
              <a:srgbClr val="0B3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94F021-5D14-2E37-514E-44E0D20E858D}"/>
              </a:ext>
            </a:extLst>
          </p:cNvPr>
          <p:cNvSpPr/>
          <p:nvPr/>
        </p:nvSpPr>
        <p:spPr>
          <a:xfrm>
            <a:off x="5379415" y="2426667"/>
            <a:ext cx="1444752" cy="914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410CDD5-F59B-B080-C57E-7AC27B8D8565}"/>
              </a:ext>
            </a:extLst>
          </p:cNvPr>
          <p:cNvSpPr/>
          <p:nvPr/>
        </p:nvSpPr>
        <p:spPr>
          <a:xfrm>
            <a:off x="5489143" y="4017723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C150C4A-51C4-3674-E43D-F91D381F2F39}"/>
              </a:ext>
            </a:extLst>
          </p:cNvPr>
          <p:cNvSpPr/>
          <p:nvPr/>
        </p:nvSpPr>
        <p:spPr>
          <a:xfrm>
            <a:off x="5489143" y="3487371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8B2FCF9-B452-6139-A383-F393F644BA3B}"/>
              </a:ext>
            </a:extLst>
          </p:cNvPr>
          <p:cNvSpPr/>
          <p:nvPr/>
        </p:nvSpPr>
        <p:spPr>
          <a:xfrm>
            <a:off x="5736031" y="1777443"/>
            <a:ext cx="731520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PUSH</a:t>
            </a:r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73ECC142-5AC7-8530-94B2-B9332F5E1480}"/>
              </a:ext>
            </a:extLst>
          </p:cNvPr>
          <p:cNvSpPr/>
          <p:nvPr/>
        </p:nvSpPr>
        <p:spPr>
          <a:xfrm>
            <a:off x="5955487" y="2051763"/>
            <a:ext cx="292608" cy="3657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Left Arrow 29">
            <a:extLst>
              <a:ext uri="{FF2B5EF4-FFF2-40B4-BE49-F238E27FC236}">
                <a16:creationId xmlns:a16="http://schemas.microsoft.com/office/drawing/2014/main" id="{9FD2C384-1491-EA53-D572-03002D38A71E}"/>
              </a:ext>
            </a:extLst>
          </p:cNvPr>
          <p:cNvSpPr/>
          <p:nvPr/>
        </p:nvSpPr>
        <p:spPr>
          <a:xfrm>
            <a:off x="6842455" y="3597099"/>
            <a:ext cx="502920" cy="237744"/>
          </a:xfrm>
          <a:prstGeom prst="lef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9CB986-625F-9C4B-5EEF-726078E033BE}"/>
              </a:ext>
            </a:extLst>
          </p:cNvPr>
          <p:cNvSpPr txBox="1"/>
          <p:nvPr/>
        </p:nvSpPr>
        <p:spPr>
          <a:xfrm>
            <a:off x="5123383" y="4639515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3C68"/>
                </a:solidFill>
              </a:defRPr>
            </a:pPr>
            <a:r>
              <a:t>2 items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DA2943B-705C-649A-6CE2-A628D376C739}"/>
              </a:ext>
            </a:extLst>
          </p:cNvPr>
          <p:cNvSpPr/>
          <p:nvPr/>
        </p:nvSpPr>
        <p:spPr>
          <a:xfrm>
            <a:off x="5123383" y="5115003"/>
            <a:ext cx="1965960" cy="914400"/>
          </a:xfrm>
          <a:prstGeom prst="roundRect">
            <a:avLst/>
          </a:prstGeom>
          <a:solidFill>
            <a:srgbClr val="E4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F2D46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The value 2 is pushed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onto the stack.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BCE8673-FA9A-5779-DEF4-BE64653F7EE8}"/>
              </a:ext>
            </a:extLst>
          </p:cNvPr>
          <p:cNvSpPr/>
          <p:nvPr/>
        </p:nvSpPr>
        <p:spPr>
          <a:xfrm>
            <a:off x="7354519" y="1228803"/>
            <a:ext cx="2148840" cy="49377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D0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5F016D4-EFF8-858C-D654-162C10CE9E84}"/>
              </a:ext>
            </a:extLst>
          </p:cNvPr>
          <p:cNvSpPr/>
          <p:nvPr/>
        </p:nvSpPr>
        <p:spPr>
          <a:xfrm>
            <a:off x="7464247" y="1338531"/>
            <a:ext cx="329184" cy="329184"/>
          </a:xfrm>
          <a:prstGeom prst="ellipse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00C78F-822D-BA83-011A-CCF7D34351BD}"/>
              </a:ext>
            </a:extLst>
          </p:cNvPr>
          <p:cNvSpPr txBox="1"/>
          <p:nvPr/>
        </p:nvSpPr>
        <p:spPr>
          <a:xfrm>
            <a:off x="7830007" y="1338531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C68"/>
                </a:solidFill>
              </a:defRPr>
            </a:pPr>
            <a:r>
              <a:t>Push 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FFE1DB-EA36-99C1-28D0-555371AAF362}"/>
              </a:ext>
            </a:extLst>
          </p:cNvPr>
          <p:cNvSpPr/>
          <p:nvPr/>
        </p:nvSpPr>
        <p:spPr>
          <a:xfrm>
            <a:off x="7738567" y="2463243"/>
            <a:ext cx="1371600" cy="2103120"/>
          </a:xfrm>
          <a:prstGeom prst="rect">
            <a:avLst/>
          </a:prstGeom>
          <a:solidFill>
            <a:srgbClr val="F8FBFE"/>
          </a:solidFill>
          <a:ln w="44450">
            <a:solidFill>
              <a:srgbClr val="0B3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32BECF-7F12-F8D2-A35A-5D5EED0A134C}"/>
              </a:ext>
            </a:extLst>
          </p:cNvPr>
          <p:cNvSpPr/>
          <p:nvPr/>
        </p:nvSpPr>
        <p:spPr>
          <a:xfrm>
            <a:off x="7701991" y="2426667"/>
            <a:ext cx="1444752" cy="914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2EBB82F-48EA-6FC0-47D2-F9836667D040}"/>
              </a:ext>
            </a:extLst>
          </p:cNvPr>
          <p:cNvSpPr/>
          <p:nvPr/>
        </p:nvSpPr>
        <p:spPr>
          <a:xfrm>
            <a:off x="7811719" y="4017723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8C4A3E4-4CBA-942A-E11E-4462BA2CDE7B}"/>
              </a:ext>
            </a:extLst>
          </p:cNvPr>
          <p:cNvSpPr/>
          <p:nvPr/>
        </p:nvSpPr>
        <p:spPr>
          <a:xfrm>
            <a:off x="7811719" y="3487371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71C7434-4E54-3E5F-DB1E-1C32BC59507B}"/>
              </a:ext>
            </a:extLst>
          </p:cNvPr>
          <p:cNvSpPr/>
          <p:nvPr/>
        </p:nvSpPr>
        <p:spPr>
          <a:xfrm>
            <a:off x="7811719" y="2957019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190F4A7-ACE9-1059-0812-99C8619AEA03}"/>
              </a:ext>
            </a:extLst>
          </p:cNvPr>
          <p:cNvSpPr/>
          <p:nvPr/>
        </p:nvSpPr>
        <p:spPr>
          <a:xfrm>
            <a:off x="8058607" y="1777443"/>
            <a:ext cx="731520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PUSH</a:t>
            </a:r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2471F7B0-5962-D269-E6B2-7A6749D4D19B}"/>
              </a:ext>
            </a:extLst>
          </p:cNvPr>
          <p:cNvSpPr/>
          <p:nvPr/>
        </p:nvSpPr>
        <p:spPr>
          <a:xfrm>
            <a:off x="8278063" y="2051763"/>
            <a:ext cx="292608" cy="3657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eft Arrow 42">
            <a:extLst>
              <a:ext uri="{FF2B5EF4-FFF2-40B4-BE49-F238E27FC236}">
                <a16:creationId xmlns:a16="http://schemas.microsoft.com/office/drawing/2014/main" id="{65CDDD5F-F6C1-B088-910D-05B6F853BC39}"/>
              </a:ext>
            </a:extLst>
          </p:cNvPr>
          <p:cNvSpPr/>
          <p:nvPr/>
        </p:nvSpPr>
        <p:spPr>
          <a:xfrm>
            <a:off x="9165031" y="3066747"/>
            <a:ext cx="502920" cy="237744"/>
          </a:xfrm>
          <a:prstGeom prst="lef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39E23B-120C-5A4A-226C-8E8FC30761A9}"/>
              </a:ext>
            </a:extLst>
          </p:cNvPr>
          <p:cNvSpPr txBox="1"/>
          <p:nvPr/>
        </p:nvSpPr>
        <p:spPr>
          <a:xfrm>
            <a:off x="7445959" y="4639515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3C68"/>
                </a:solidFill>
              </a:defRPr>
            </a:pPr>
            <a:r>
              <a:t>3 items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4A99BD4-D94A-9E45-8345-5AC3C41CED6F}"/>
              </a:ext>
            </a:extLst>
          </p:cNvPr>
          <p:cNvSpPr/>
          <p:nvPr/>
        </p:nvSpPr>
        <p:spPr>
          <a:xfrm>
            <a:off x="7445959" y="5115003"/>
            <a:ext cx="1965960" cy="914400"/>
          </a:xfrm>
          <a:prstGeom prst="roundRect">
            <a:avLst/>
          </a:prstGeom>
          <a:solidFill>
            <a:srgbClr val="E4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F2D46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The value 3 is pushed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onto the stack.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A34EDA7-AE60-DBD6-5300-68AA570DD271}"/>
              </a:ext>
            </a:extLst>
          </p:cNvPr>
          <p:cNvSpPr/>
          <p:nvPr/>
        </p:nvSpPr>
        <p:spPr>
          <a:xfrm>
            <a:off x="9677095" y="1228803"/>
            <a:ext cx="2148840" cy="493776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D0E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DFC8BFF-EAE1-E0E2-A46D-6E9F3605FEB1}"/>
              </a:ext>
            </a:extLst>
          </p:cNvPr>
          <p:cNvSpPr/>
          <p:nvPr/>
        </p:nvSpPr>
        <p:spPr>
          <a:xfrm>
            <a:off x="9786823" y="1338531"/>
            <a:ext cx="329184" cy="329184"/>
          </a:xfrm>
          <a:prstGeom prst="ellipse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F16236-174F-B6B6-91F4-8AB26FFE49D7}"/>
              </a:ext>
            </a:extLst>
          </p:cNvPr>
          <p:cNvSpPr txBox="1"/>
          <p:nvPr/>
        </p:nvSpPr>
        <p:spPr>
          <a:xfrm>
            <a:off x="10152583" y="1338531"/>
            <a:ext cx="1600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C68"/>
                </a:solidFill>
              </a:defRPr>
            </a:pPr>
            <a:r>
              <a:t>Pop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6DB64F6-F6D7-91BE-C638-C7408BABDB61}"/>
              </a:ext>
            </a:extLst>
          </p:cNvPr>
          <p:cNvSpPr/>
          <p:nvPr/>
        </p:nvSpPr>
        <p:spPr>
          <a:xfrm>
            <a:off x="10061143" y="2463243"/>
            <a:ext cx="1371600" cy="2103120"/>
          </a:xfrm>
          <a:prstGeom prst="rect">
            <a:avLst/>
          </a:prstGeom>
          <a:solidFill>
            <a:srgbClr val="F8FBFE"/>
          </a:solidFill>
          <a:ln w="44450">
            <a:solidFill>
              <a:srgbClr val="0B3C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4F11E08-B844-AA05-26B7-956ADCEB1224}"/>
              </a:ext>
            </a:extLst>
          </p:cNvPr>
          <p:cNvSpPr/>
          <p:nvPr/>
        </p:nvSpPr>
        <p:spPr>
          <a:xfrm>
            <a:off x="10024567" y="2426667"/>
            <a:ext cx="1444752" cy="914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168C261-7994-8883-8968-B4913C033AC1}"/>
              </a:ext>
            </a:extLst>
          </p:cNvPr>
          <p:cNvSpPr/>
          <p:nvPr/>
        </p:nvSpPr>
        <p:spPr>
          <a:xfrm>
            <a:off x="10134295" y="4017723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EBB47DF-3606-347B-431D-EFCDC55B8513}"/>
              </a:ext>
            </a:extLst>
          </p:cNvPr>
          <p:cNvSpPr/>
          <p:nvPr/>
        </p:nvSpPr>
        <p:spPr>
          <a:xfrm>
            <a:off x="10134295" y="3487371"/>
            <a:ext cx="1225296" cy="475488"/>
          </a:xfrm>
          <a:prstGeom prst="round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539E587D-F835-A9B5-5FBD-A86C37957D4B}"/>
              </a:ext>
            </a:extLst>
          </p:cNvPr>
          <p:cNvSpPr/>
          <p:nvPr/>
        </p:nvSpPr>
        <p:spPr>
          <a:xfrm>
            <a:off x="10426903" y="1777443"/>
            <a:ext cx="640080" cy="23774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POP</a:t>
            </a:r>
          </a:p>
        </p:txBody>
      </p:sp>
      <p:sp>
        <p:nvSpPr>
          <p:cNvPr id="54" name="Up Arrow 53">
            <a:extLst>
              <a:ext uri="{FF2B5EF4-FFF2-40B4-BE49-F238E27FC236}">
                <a16:creationId xmlns:a16="http://schemas.microsoft.com/office/drawing/2014/main" id="{91E89E1B-E2B4-B160-2910-A6FC3DF29A54}"/>
              </a:ext>
            </a:extLst>
          </p:cNvPr>
          <p:cNvSpPr/>
          <p:nvPr/>
        </p:nvSpPr>
        <p:spPr>
          <a:xfrm>
            <a:off x="10600639" y="2051763"/>
            <a:ext cx="292608" cy="365760"/>
          </a:xfrm>
          <a:prstGeom prst="up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Left Arrow 54">
            <a:extLst>
              <a:ext uri="{FF2B5EF4-FFF2-40B4-BE49-F238E27FC236}">
                <a16:creationId xmlns:a16="http://schemas.microsoft.com/office/drawing/2014/main" id="{28BB89B6-5323-065A-D991-CCEE207AC321}"/>
              </a:ext>
            </a:extLst>
          </p:cNvPr>
          <p:cNvSpPr/>
          <p:nvPr/>
        </p:nvSpPr>
        <p:spPr>
          <a:xfrm>
            <a:off x="11466576" y="3922776"/>
            <a:ext cx="502920" cy="237744"/>
          </a:xfrm>
          <a:prstGeom prst="leftArrow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TOP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6923F2-4E21-6FEC-5689-9FB643F6C8E1}"/>
              </a:ext>
            </a:extLst>
          </p:cNvPr>
          <p:cNvSpPr txBox="1"/>
          <p:nvPr/>
        </p:nvSpPr>
        <p:spPr>
          <a:xfrm>
            <a:off x="9768535" y="4639515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3C68"/>
                </a:solidFill>
              </a:defRPr>
            </a:pPr>
            <a:r>
              <a:t>2 items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7264A519-5D00-2345-B30E-50BCA6728996}"/>
              </a:ext>
            </a:extLst>
          </p:cNvPr>
          <p:cNvSpPr/>
          <p:nvPr/>
        </p:nvSpPr>
        <p:spPr>
          <a:xfrm>
            <a:off x="9768535" y="5115003"/>
            <a:ext cx="1965960" cy="914400"/>
          </a:xfrm>
          <a:prstGeom prst="roundRect">
            <a:avLst/>
          </a:prstGeom>
          <a:solidFill>
            <a:srgbClr val="E4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0F2D46"/>
                </a:solidFill>
              </a:defRPr>
            </a:pPr>
            <a:r>
              <a:rPr sz="1200" dirty="0">
                <a:solidFill>
                  <a:schemeClr val="tx1"/>
                </a:solidFill>
              </a:rPr>
              <a:t>The top item (3) is popped</a:t>
            </a:r>
          </a:p>
          <a:p>
            <a:pPr algn="ctr"/>
            <a:r>
              <a:rPr sz="1200" dirty="0">
                <a:solidFill>
                  <a:schemeClr val="tx1"/>
                </a:solidFill>
              </a:rPr>
              <a:t>from the stack.</a:t>
            </a:r>
          </a:p>
        </p:txBody>
      </p:sp>
    </p:spTree>
    <p:extLst>
      <p:ext uri="{BB962C8B-B14F-4D97-AF65-F5344CB8AC3E}">
        <p14:creationId xmlns:p14="http://schemas.microsoft.com/office/powerpoint/2010/main" val="4124753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6C0B562-AB47-176E-B226-AED7B0372AA3}"/>
              </a:ext>
            </a:extLst>
          </p:cNvPr>
          <p:cNvSpPr/>
          <p:nvPr/>
        </p:nvSpPr>
        <p:spPr>
          <a:xfrm>
            <a:off x="3339790" y="167268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E2CDB0-FFBE-3B44-B6C4-CD92A4D72591}"/>
              </a:ext>
            </a:extLst>
          </p:cNvPr>
          <p:cNvSpPr/>
          <p:nvPr/>
        </p:nvSpPr>
        <p:spPr>
          <a:xfrm>
            <a:off x="3339790" y="167268"/>
            <a:ext cx="73152" cy="96012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63063E-7D09-AFDF-2156-BDE2D50551E3}"/>
              </a:ext>
            </a:extLst>
          </p:cNvPr>
          <p:cNvSpPr txBox="1"/>
          <p:nvPr/>
        </p:nvSpPr>
        <p:spPr>
          <a:xfrm>
            <a:off x="3568390" y="33186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t>push()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t>Adds an item to the top of the stack.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11D93-4941-6129-6205-A712E5526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450" y="1513246"/>
            <a:ext cx="8485099" cy="383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7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07F0A6-FEFA-E189-A48E-479E8274407A}"/>
              </a:ext>
            </a:extLst>
          </p:cNvPr>
          <p:cNvSpPr/>
          <p:nvPr/>
        </p:nvSpPr>
        <p:spPr>
          <a:xfrm>
            <a:off x="3183673" y="122664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CCE45-24E2-C8E7-40DC-C13BBC4EEC15}"/>
              </a:ext>
            </a:extLst>
          </p:cNvPr>
          <p:cNvSpPr/>
          <p:nvPr/>
        </p:nvSpPr>
        <p:spPr>
          <a:xfrm>
            <a:off x="3183673" y="122664"/>
            <a:ext cx="73152" cy="960120"/>
          </a:xfrm>
          <a:prstGeom prst="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60BB9-09C2-B9D5-FEDA-14D226E801BD}"/>
              </a:ext>
            </a:extLst>
          </p:cNvPr>
          <p:cNvSpPr txBox="1"/>
          <p:nvPr/>
        </p:nvSpPr>
        <p:spPr>
          <a:xfrm>
            <a:off x="3412273" y="287256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t>pop()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t>Removes the item from the top.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EE84CE-240D-E203-CAE3-59C67D706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591" y="1565197"/>
            <a:ext cx="9988818" cy="372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823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299E5A5-CD62-25DD-2E4E-586339BF883A}"/>
              </a:ext>
            </a:extLst>
          </p:cNvPr>
          <p:cNvSpPr/>
          <p:nvPr/>
        </p:nvSpPr>
        <p:spPr>
          <a:xfrm>
            <a:off x="3421380" y="85865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2CC65-D8CF-9BEE-8E1D-BD33DDA0FEB5}"/>
              </a:ext>
            </a:extLst>
          </p:cNvPr>
          <p:cNvSpPr/>
          <p:nvPr/>
        </p:nvSpPr>
        <p:spPr>
          <a:xfrm>
            <a:off x="3421380" y="85865"/>
            <a:ext cx="73152" cy="96012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9B041F-CA61-59A1-9E73-98705711EBAE}"/>
              </a:ext>
            </a:extLst>
          </p:cNvPr>
          <p:cNvSpPr txBox="1"/>
          <p:nvPr/>
        </p:nvSpPr>
        <p:spPr>
          <a:xfrm>
            <a:off x="3649980" y="250457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t>peek() / top()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t>Views the top item without removing it.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34B842-89AB-C02A-26EA-3C533EBDD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758" y="1619792"/>
            <a:ext cx="9508483" cy="361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99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75103DD-D1A5-5419-BA65-72C6EAD629C9}"/>
              </a:ext>
            </a:extLst>
          </p:cNvPr>
          <p:cNvSpPr/>
          <p:nvPr/>
        </p:nvSpPr>
        <p:spPr>
          <a:xfrm>
            <a:off x="3562814" y="108167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AD3CEC-CD42-042D-41D9-C1667F82CF9F}"/>
              </a:ext>
            </a:extLst>
          </p:cNvPr>
          <p:cNvSpPr/>
          <p:nvPr/>
        </p:nvSpPr>
        <p:spPr>
          <a:xfrm>
            <a:off x="3562814" y="108167"/>
            <a:ext cx="73152" cy="960120"/>
          </a:xfrm>
          <a:prstGeom prst="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54EB8-7139-A6E0-3CBF-109674057253}"/>
              </a:ext>
            </a:extLst>
          </p:cNvPr>
          <p:cNvSpPr txBox="1"/>
          <p:nvPr/>
        </p:nvSpPr>
        <p:spPr>
          <a:xfrm>
            <a:off x="3791414" y="272759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t>isEmpty()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t>Checks whether the stack contains any items.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0DBBB6-D10F-BD17-96BC-C448D24C1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87" y="2339226"/>
            <a:ext cx="11306408" cy="217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86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567126E-5267-1BE8-DF52-6CB2C36B417E}"/>
              </a:ext>
            </a:extLst>
          </p:cNvPr>
          <p:cNvSpPr/>
          <p:nvPr/>
        </p:nvSpPr>
        <p:spPr>
          <a:xfrm>
            <a:off x="3339790" y="138276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8EF48C-F0E2-69C4-A529-4256A79A2980}"/>
              </a:ext>
            </a:extLst>
          </p:cNvPr>
          <p:cNvSpPr/>
          <p:nvPr/>
        </p:nvSpPr>
        <p:spPr>
          <a:xfrm>
            <a:off x="3339790" y="138276"/>
            <a:ext cx="73152" cy="96012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A26023-7D96-52C0-6B82-0FA29560E337}"/>
              </a:ext>
            </a:extLst>
          </p:cNvPr>
          <p:cNvSpPr txBox="1"/>
          <p:nvPr/>
        </p:nvSpPr>
        <p:spPr>
          <a:xfrm>
            <a:off x="3545530" y="131586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rPr dirty="0" err="1"/>
              <a:t>isFull</a:t>
            </a:r>
            <a:r>
              <a:rPr dirty="0"/>
              <a:t>()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rPr dirty="0"/>
              <a:t>Checks whether an array-based stack has reached capacity.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0A16C7-5D8E-E3E8-E5CF-E857C4914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78" y="2220563"/>
            <a:ext cx="10514643" cy="241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091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20C38FF-58A2-A77A-032C-27187B9BE193}"/>
              </a:ext>
            </a:extLst>
          </p:cNvPr>
          <p:cNvSpPr/>
          <p:nvPr/>
        </p:nvSpPr>
        <p:spPr>
          <a:xfrm>
            <a:off x="3562815" y="18288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B2B682-3791-2378-9F5C-617D8A490524}"/>
              </a:ext>
            </a:extLst>
          </p:cNvPr>
          <p:cNvSpPr/>
          <p:nvPr/>
        </p:nvSpPr>
        <p:spPr>
          <a:xfrm>
            <a:off x="3562815" y="182880"/>
            <a:ext cx="73152" cy="960120"/>
          </a:xfrm>
          <a:prstGeom prst="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01068-5989-06C5-FADD-17776CE107E4}"/>
              </a:ext>
            </a:extLst>
          </p:cNvPr>
          <p:cNvSpPr txBox="1"/>
          <p:nvPr/>
        </p:nvSpPr>
        <p:spPr>
          <a:xfrm>
            <a:off x="3791415" y="347472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rPr dirty="0" err="1"/>
              <a:t>displayAll</a:t>
            </a:r>
            <a:r>
              <a:rPr dirty="0"/>
              <a:t>()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rPr dirty="0"/>
              <a:t>Displays the items currently stored in the stack.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2007BE-92FE-935D-36FA-2CBAEBE60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24900"/>
            <a:ext cx="7772400" cy="420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96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B46"/>
                </a:solidFill>
              </a:defRPr>
            </a:pPr>
            <a:r>
              <a:t>Stack Overflow and Underflow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52120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73152" cy="274320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73351"/>
            <a:ext cx="48006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t>Overflow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t>Trying to add an item when the stack is already full.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73152" cy="2743200"/>
          </a:xfrm>
          <a:prstGeom prst="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73351"/>
            <a:ext cx="48006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t>Underflow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t>Trying to remove an item when the stack is empty.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Limited shelf capacity → overflow.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Nothing left to remove → underflow.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B46"/>
                </a:solidFill>
              </a:defRPr>
            </a:pPr>
            <a:r>
              <a:t>Array-Based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Elements are stored inside an array.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Simple to implement and understand.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push(), pop(), and peek() can be performed quickly.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Traditional arrays have fixed capacity.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A full array can cause overflow unless resized or additional space is created.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An oversized array can leave unused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60175" cy="1143000"/>
          </a:xfrm>
          <a:prstGeom prst="rect">
            <a:avLst/>
          </a:prstGeom>
          <a:solidFill>
            <a:srgbClr val="15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Queue (FIFO)</a:t>
            </a:r>
          </a:p>
          <a:p>
            <a:pPr algn="ctr">
              <a:defRPr sz="1600">
                <a:solidFill>
                  <a:srgbClr val="C7D2FE"/>
                </a:solidFill>
              </a:defRPr>
            </a:pPr>
            <a:r>
              <a:t>A queue follows First In, First Out (FIFO) — the first item added is the first item removed.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2834640"/>
            <a:ext cx="1143000" cy="1143000"/>
          </a:xfrm>
          <a:prstGeom prst="roundRect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2834640"/>
            <a:ext cx="1143000" cy="1143000"/>
          </a:xfrm>
          <a:prstGeom prst="roundRect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834640"/>
            <a:ext cx="1143000" cy="1143000"/>
          </a:xfrm>
          <a:prstGeom prst="roundRect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834640"/>
            <a:ext cx="1143000" cy="1143000"/>
          </a:xfrm>
          <a:prstGeom prst="roundRect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2834640"/>
            <a:ext cx="1143000" cy="1143000"/>
          </a:xfrm>
          <a:prstGeom prst="roundRect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Left Arrow 7"/>
          <p:cNvSpPr/>
          <p:nvPr/>
        </p:nvSpPr>
        <p:spPr>
          <a:xfrm>
            <a:off x="3749039" y="2194560"/>
            <a:ext cx="1828800" cy="164592"/>
          </a:xfrm>
          <a:prstGeom prst="lef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223760" y="2194560"/>
            <a:ext cx="1828800" cy="16459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8657" y="19696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4155"/>
                </a:solidFill>
              </a:defRPr>
            </a:pPr>
            <a:r>
              <a:rPr dirty="0"/>
              <a:t>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3700" y="1810512"/>
            <a:ext cx="109728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FRONT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086100" y="2272284"/>
            <a:ext cx="182880" cy="45720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8171" y="2834640"/>
            <a:ext cx="1188720" cy="42062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DEQUEUE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4480560"/>
            <a:ext cx="1005840" cy="34747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REAR</a:t>
            </a:r>
          </a:p>
        </p:txBody>
      </p:sp>
      <p:sp>
        <p:nvSpPr>
          <p:cNvPr id="16" name="Up Arrow 15"/>
          <p:cNvSpPr/>
          <p:nvPr/>
        </p:nvSpPr>
        <p:spPr>
          <a:xfrm>
            <a:off x="9738360" y="4023360"/>
            <a:ext cx="182880" cy="411480"/>
          </a:xfrm>
          <a:prstGeom prst="up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757649" y="2621429"/>
            <a:ext cx="1280160" cy="43891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ENQUEUE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820" y="4229100"/>
            <a:ext cx="24688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FRONT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Points to the first item in the queue (the next item to be removed).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229100"/>
            <a:ext cx="24688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dirty="0"/>
              <a:t>REAR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Points to the last item in the queue (the next position to add an item).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820" y="5438338"/>
            <a:ext cx="24688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DEQUEUE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Removes the item from the front of the queue.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5425812"/>
            <a:ext cx="2468880" cy="10058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dirty="0"/>
              <a:t>ENQUEUE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Adds an item to the queue.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0D57DBE1-A1AA-D6A5-90C3-5F032CB83A51}"/>
              </a:ext>
            </a:extLst>
          </p:cNvPr>
          <p:cNvSpPr/>
          <p:nvPr/>
        </p:nvSpPr>
        <p:spPr>
          <a:xfrm>
            <a:off x="1787541" y="2941914"/>
            <a:ext cx="722598" cy="23328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Bent Arrow 24">
            <a:extLst>
              <a:ext uri="{FF2B5EF4-FFF2-40B4-BE49-F238E27FC236}">
                <a16:creationId xmlns:a16="http://schemas.microsoft.com/office/drawing/2014/main" id="{14E37774-AB13-3CD3-C85E-268A94D9622E}"/>
              </a:ext>
            </a:extLst>
          </p:cNvPr>
          <p:cNvSpPr/>
          <p:nvPr/>
        </p:nvSpPr>
        <p:spPr>
          <a:xfrm flipH="1" flipV="1">
            <a:off x="11002030" y="3175198"/>
            <a:ext cx="771799" cy="411480"/>
          </a:xfrm>
          <a:prstGeom prst="ben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B46"/>
                </a:solidFill>
              </a:defRPr>
            </a:pPr>
            <a:r>
              <a:t>The Problem With a Linear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After removals, empty positions can remain at the beginning of the array.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The rear keeps moving toward the end.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The rear can reach the last position even while earlier positions are empty.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Available space exists, but it cannot be reused efficiently.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Circular queues are designed to solve this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60175" cy="1143000"/>
          </a:xfrm>
          <a:prstGeom prst="rect">
            <a:avLst/>
          </a:prstGeom>
          <a:solidFill>
            <a:srgbClr val="15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Circular Queue Representation</a:t>
            </a:r>
          </a:p>
          <a:p>
            <a:pPr algn="ctr">
              <a:defRPr sz="1600">
                <a:solidFill>
                  <a:srgbClr val="C7D2FE"/>
                </a:solidFill>
              </a:defRPr>
            </a:pPr>
            <a:r>
              <a:t>In a circular queue, when the end of the array is reached, the next position wraps around to the beginning of the array.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57018" y="2575932"/>
            <a:ext cx="1463040" cy="100584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59764" y="2575932"/>
            <a:ext cx="146304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12557" y="3950616"/>
            <a:ext cx="1463040" cy="10058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84861" y="5118854"/>
            <a:ext cx="146304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-2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3931920"/>
            <a:ext cx="146304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9338" y="3483603"/>
            <a:ext cx="1005840" cy="36576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Front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86776" y="2987132"/>
            <a:ext cx="1005840" cy="36576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Rear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178" y="2438492"/>
            <a:ext cx="4206240" cy="914400"/>
          </a:xfrm>
          <a:prstGeom prst="roundRect">
            <a:avLst/>
          </a:prstGeom>
          <a:solidFill>
            <a:srgbClr val="CFE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rPr dirty="0"/>
              <a:t>New element can be inserted by </a:t>
            </a:r>
            <a:r>
              <a:t>incrementing Rear.</a:t>
            </a:r>
            <a:endParaRPr dirty="0"/>
          </a:p>
        </p:txBody>
      </p:sp>
      <p:sp>
        <p:nvSpPr>
          <p:cNvPr id="19" name="Right Arrow 18"/>
          <p:cNvSpPr/>
          <p:nvPr/>
        </p:nvSpPr>
        <p:spPr>
          <a:xfrm>
            <a:off x="4463831" y="2841550"/>
            <a:ext cx="1005840" cy="163072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84861" y="3216012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dirty="0"/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5254" y="4328344"/>
            <a:ext cx="4389120" cy="179635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dirty="0"/>
              <a:t>Front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= Points to the first item in the queue (next to be removed).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dirty="0"/>
              <a:t>Rear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= Points to the last item in the queue (next position to add).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dirty="0"/>
              <a:t>Light blue segment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= Array location with a value.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rPr dirty="0"/>
              <a:t>0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rPr dirty="0"/>
              <a:t>= Index position.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70B985-92B8-A4E5-D4D2-1C7E1E635378}"/>
              </a:ext>
            </a:extLst>
          </p:cNvPr>
          <p:cNvSpPr txBox="1"/>
          <p:nvPr/>
        </p:nvSpPr>
        <p:spPr>
          <a:xfrm>
            <a:off x="6172995" y="45684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E830BD-13EF-A730-E40D-C421BE830C5C}"/>
              </a:ext>
            </a:extLst>
          </p:cNvPr>
          <p:cNvSpPr txBox="1"/>
          <p:nvPr/>
        </p:nvSpPr>
        <p:spPr>
          <a:xfrm>
            <a:off x="7935802" y="575536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DAFD80-A35F-D1D2-0137-C2F508ACE310}"/>
              </a:ext>
            </a:extLst>
          </p:cNvPr>
          <p:cNvSpPr txBox="1"/>
          <p:nvPr/>
        </p:nvSpPr>
        <p:spPr>
          <a:xfrm>
            <a:off x="9467499" y="46295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540DAD-7DC3-E340-9F4B-B0B3D9316106}"/>
              </a:ext>
            </a:extLst>
          </p:cNvPr>
          <p:cNvSpPr txBox="1"/>
          <p:nvPr/>
        </p:nvSpPr>
        <p:spPr>
          <a:xfrm>
            <a:off x="8801554" y="32443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" name="Bent Arrow 3">
            <a:extLst>
              <a:ext uri="{FF2B5EF4-FFF2-40B4-BE49-F238E27FC236}">
                <a16:creationId xmlns:a16="http://schemas.microsoft.com/office/drawing/2014/main" id="{9B9E0880-10BF-A3F9-5D24-F018037AEE8A}"/>
              </a:ext>
            </a:extLst>
          </p:cNvPr>
          <p:cNvSpPr/>
          <p:nvPr/>
        </p:nvSpPr>
        <p:spPr>
          <a:xfrm flipV="1">
            <a:off x="3688824" y="3950616"/>
            <a:ext cx="1193187" cy="276475"/>
          </a:xfrm>
          <a:prstGeom prst="ben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C16B6B8-6859-883D-304D-3EFE6060D1F6}"/>
              </a:ext>
            </a:extLst>
          </p:cNvPr>
          <p:cNvSpPr/>
          <p:nvPr/>
        </p:nvSpPr>
        <p:spPr>
          <a:xfrm flipH="1">
            <a:off x="9327319" y="3047032"/>
            <a:ext cx="1154942" cy="19730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198EB0C-7A7C-DFF9-3046-1AD086258D33}"/>
              </a:ext>
            </a:extLst>
          </p:cNvPr>
          <p:cNvSpPr/>
          <p:nvPr/>
        </p:nvSpPr>
        <p:spPr>
          <a:xfrm>
            <a:off x="3278687" y="161335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E7B6FE-3476-B100-81A1-1B630DBBE621}"/>
              </a:ext>
            </a:extLst>
          </p:cNvPr>
          <p:cNvSpPr/>
          <p:nvPr/>
        </p:nvSpPr>
        <p:spPr>
          <a:xfrm>
            <a:off x="3278687" y="152191"/>
            <a:ext cx="73152" cy="100584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C6538-3128-9A96-8FCE-E5F786CA5162}"/>
              </a:ext>
            </a:extLst>
          </p:cNvPr>
          <p:cNvSpPr txBox="1"/>
          <p:nvPr/>
        </p:nvSpPr>
        <p:spPr>
          <a:xfrm>
            <a:off x="3492047" y="242627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rPr dirty="0"/>
              <a:t>enqueue()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rPr dirty="0"/>
              <a:t>Adds a new item to the rear; the rear can wrap to the beginning.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1DA1CC-51AF-BD5C-ECD6-7EABB7A88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744" y="1416267"/>
            <a:ext cx="9398511" cy="402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942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227656A-6732-AA16-8B54-564BEFF7D633}"/>
              </a:ext>
            </a:extLst>
          </p:cNvPr>
          <p:cNvSpPr/>
          <p:nvPr/>
        </p:nvSpPr>
        <p:spPr>
          <a:xfrm>
            <a:off x="3444240" y="114613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869DBF-716C-08F8-686E-16A9DB276911}"/>
              </a:ext>
            </a:extLst>
          </p:cNvPr>
          <p:cNvSpPr/>
          <p:nvPr/>
        </p:nvSpPr>
        <p:spPr>
          <a:xfrm>
            <a:off x="3444240" y="114613"/>
            <a:ext cx="73152" cy="1005840"/>
          </a:xfrm>
          <a:prstGeom prst="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6E39C0-76A5-E699-195B-2C3E0B0E174D}"/>
              </a:ext>
            </a:extLst>
          </p:cNvPr>
          <p:cNvSpPr txBox="1"/>
          <p:nvPr/>
        </p:nvSpPr>
        <p:spPr>
          <a:xfrm>
            <a:off x="3672840" y="279205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rPr dirty="0"/>
              <a:t>dequeue()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rPr dirty="0"/>
              <a:t>Removes an item from the front; the front advances.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66526A-6D15-E52F-F69B-E78E6EFAD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40" y="1818884"/>
            <a:ext cx="10744719" cy="359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9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103562E-F55D-74C7-6E55-9E01B99D9273}"/>
              </a:ext>
            </a:extLst>
          </p:cNvPr>
          <p:cNvSpPr/>
          <p:nvPr/>
        </p:nvSpPr>
        <p:spPr>
          <a:xfrm>
            <a:off x="3444240" y="137786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AB72B8-78D1-5D6A-3F63-FF1E3ED19E78}"/>
              </a:ext>
            </a:extLst>
          </p:cNvPr>
          <p:cNvSpPr/>
          <p:nvPr/>
        </p:nvSpPr>
        <p:spPr>
          <a:xfrm>
            <a:off x="3444240" y="137786"/>
            <a:ext cx="73152" cy="100584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2FBE8-2537-6324-6D0D-84CAE58151C2}"/>
              </a:ext>
            </a:extLst>
          </p:cNvPr>
          <p:cNvSpPr txBox="1"/>
          <p:nvPr/>
        </p:nvSpPr>
        <p:spPr>
          <a:xfrm>
            <a:off x="3672840" y="212276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rPr dirty="0" err="1"/>
              <a:t>isEmpty</a:t>
            </a:r>
            <a:r>
              <a:rPr dirty="0"/>
              <a:t>()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rPr dirty="0"/>
              <a:t>Checks whether there is anything available to remove.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1D8F58-79DE-92B1-5858-2A8243310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56" y="2393297"/>
            <a:ext cx="10752687" cy="207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173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8699751-E7E2-5A73-77DA-36F5D363D3FD}"/>
              </a:ext>
            </a:extLst>
          </p:cNvPr>
          <p:cNvSpPr/>
          <p:nvPr/>
        </p:nvSpPr>
        <p:spPr>
          <a:xfrm>
            <a:off x="3444240" y="150312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E39863-FD96-CE5C-0D68-6857864D51D6}"/>
              </a:ext>
            </a:extLst>
          </p:cNvPr>
          <p:cNvSpPr/>
          <p:nvPr/>
        </p:nvSpPr>
        <p:spPr>
          <a:xfrm>
            <a:off x="3444240" y="150312"/>
            <a:ext cx="73152" cy="1005840"/>
          </a:xfrm>
          <a:prstGeom prst="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26299-B93D-C962-CA55-6A559DED33BE}"/>
              </a:ext>
            </a:extLst>
          </p:cNvPr>
          <p:cNvSpPr txBox="1"/>
          <p:nvPr/>
        </p:nvSpPr>
        <p:spPr>
          <a:xfrm>
            <a:off x="3649980" y="22480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rPr dirty="0" err="1"/>
              <a:t>isFull</a:t>
            </a:r>
            <a:r>
              <a:rPr dirty="0"/>
              <a:t>()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rPr dirty="0"/>
              <a:t>Checks whether the available positions are all being used.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5BA19F-8FBF-AB68-BACF-86B5D97B7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738" y="2577665"/>
            <a:ext cx="10146523" cy="170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76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C99A9D1-A7B3-6CFD-2ABB-4A231A75119B}"/>
              </a:ext>
            </a:extLst>
          </p:cNvPr>
          <p:cNvSpPr/>
          <p:nvPr/>
        </p:nvSpPr>
        <p:spPr>
          <a:xfrm>
            <a:off x="3444240" y="148433"/>
            <a:ext cx="53035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DA5303-42C0-437E-B91D-2BB1D2207318}"/>
              </a:ext>
            </a:extLst>
          </p:cNvPr>
          <p:cNvSpPr/>
          <p:nvPr/>
        </p:nvSpPr>
        <p:spPr>
          <a:xfrm>
            <a:off x="3444240" y="148433"/>
            <a:ext cx="73152" cy="1005840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0E6CB-F516-40FA-7630-B0BCE6C4A21B}"/>
              </a:ext>
            </a:extLst>
          </p:cNvPr>
          <p:cNvSpPr txBox="1"/>
          <p:nvPr/>
        </p:nvSpPr>
        <p:spPr>
          <a:xfrm>
            <a:off x="3517392" y="217338"/>
            <a:ext cx="4912207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2B46"/>
                </a:solidFill>
              </a:defRPr>
            </a:pPr>
            <a:r>
              <a:t>displayAll()</a:t>
            </a:r>
          </a:p>
          <a:p>
            <a:pPr>
              <a:spcBef>
                <a:spcPts val="800"/>
              </a:spcBef>
              <a:defRPr sz="1500">
                <a:solidFill>
                  <a:srgbClr val="232A32"/>
                </a:solidFill>
              </a:defRPr>
            </a:pPr>
            <a:r>
              <a:t>Displays the queue contents and helps show the current front and rear positions.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09D77A-8012-2653-4B8B-09E5728DA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195" y="1443102"/>
            <a:ext cx="75946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00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B46"/>
                </a:solidFill>
              </a:defRPr>
            </a:pPr>
            <a:r>
              <a:t>Circular Queue — Real-World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Cars enter at the rear and leave from the front.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As cars leave, spaces at the beginning become available.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New cars can reuse those positions.</a:t>
            </a:r>
          </a:p>
          <a:p>
            <a:pPr>
              <a:spcAft>
                <a:spcPts val="1200"/>
              </a:spcAft>
              <a:defRPr sz="2100">
                <a:solidFill>
                  <a:srgbClr val="232A32"/>
                </a:solidFill>
              </a:defRPr>
            </a:pPr>
            <a:r>
              <a:t>The rear travels to the end and wraps back to the beginning.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00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FFA1BD6-5CCC-AF18-9AE7-989FE0506A7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111" y="105196"/>
            <a:ext cx="9023561" cy="2113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192B46"/>
                </a:solidFill>
              </a:defRPr>
            </a:pPr>
            <a:r>
              <a:rPr lang="en-US" sz="7200" b="1" kern="1200" spc="-30" baseline="0">
                <a:latin typeface="+mj-lt"/>
                <a:ea typeface="+mj-ea"/>
                <a:cs typeface="+mj-cs"/>
              </a:rPr>
              <a:t>Binary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" y="2484255"/>
            <a:ext cx="8467558" cy="3539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lnSpc>
                <a:spcPct val="12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rabicPeriod"/>
              <a:defRPr sz="1800">
                <a:solidFill>
                  <a:srgbClr val="232A32"/>
                </a:solidFill>
              </a:defRPr>
            </a:pPr>
            <a:r>
              <a:rPr lang="en-US"/>
              <a:t>A binary tree is made of nodes.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rabicPeriod"/>
              <a:defRPr sz="1800">
                <a:solidFill>
                  <a:srgbClr val="232A32"/>
                </a:solidFill>
              </a:defRPr>
            </a:pPr>
            <a:r>
              <a:rPr lang="en-US"/>
              <a:t>Each node can have a maximum of two children: left and right.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rabicPeriod"/>
              <a:defRPr sz="1800">
                <a:solidFill>
                  <a:srgbClr val="232A32"/>
                </a:solidFill>
              </a:defRPr>
            </a:pPr>
            <a:r>
              <a:rPr lang="en-US"/>
              <a:t>The root is the starting point at the top.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rabicPeriod"/>
              <a:defRPr sz="1800">
                <a:solidFill>
                  <a:srgbClr val="232A32"/>
                </a:solidFill>
              </a:defRPr>
            </a:pPr>
            <a:r>
              <a:rPr lang="en-US"/>
              <a:t>A node with no children is a leaf.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rabicPeriod"/>
              <a:defRPr sz="1800">
                <a:solidFill>
                  <a:srgbClr val="232A32"/>
                </a:solidFill>
              </a:defRPr>
            </a:pPr>
            <a:r>
              <a:rPr lang="en-US"/>
              <a:t>A basic binary tree does not require values to be arranged in a particular order.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8132F34-F417-3214-35EA-1C28430B755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111" y="105196"/>
            <a:ext cx="9023561" cy="2113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192B46"/>
                </a:solidFill>
              </a:defRPr>
            </a:pPr>
            <a:r>
              <a:rPr lang="en-US" sz="6700" b="1" kern="1200" spc="-30" baseline="0">
                <a:latin typeface="+mj-lt"/>
                <a:ea typeface="+mj-ea"/>
                <a:cs typeface="+mj-cs"/>
              </a:rPr>
              <a:t>Binary Search Tree (BST)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" y="2484255"/>
            <a:ext cx="8467558" cy="3539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lnSpc>
                <a:spcPct val="12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rabicPeriod"/>
              <a:defRPr sz="1600">
                <a:solidFill>
                  <a:srgbClr val="232A32"/>
                </a:solidFill>
              </a:defRPr>
            </a:pPr>
            <a:r>
              <a:rPr lang="en-US" sz="1600"/>
              <a:t>A BST is a special type of binary tree.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rabicPeriod"/>
              <a:defRPr sz="1600">
                <a:solidFill>
                  <a:srgbClr val="232A32"/>
                </a:solidFill>
              </a:defRPr>
            </a:pPr>
            <a:r>
              <a:rPr lang="en-US" sz="1600"/>
              <a:t>Smaller values go left.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rabicPeriod"/>
              <a:defRPr sz="1600">
                <a:solidFill>
                  <a:srgbClr val="232A32"/>
                </a:solidFill>
              </a:defRPr>
            </a:pPr>
            <a:r>
              <a:rPr lang="en-US" sz="1600"/>
              <a:t>Greater values go right.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rabicPeriod"/>
              <a:defRPr sz="1600">
                <a:solidFill>
                  <a:srgbClr val="232A32"/>
                </a:solidFill>
              </a:defRPr>
            </a:pPr>
            <a:r>
              <a:rPr lang="en-US" sz="1600"/>
              <a:t>Comparisons guide the search direction.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rabicPeriod"/>
              <a:defRPr sz="1600">
                <a:solidFill>
                  <a:srgbClr val="232A32"/>
                </a:solidFill>
              </a:defRPr>
            </a:pPr>
            <a:r>
              <a:rPr lang="en-US" sz="1600"/>
              <a:t>In this implementation, duplicate values are ignored.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60175" cy="1051560"/>
          </a:xfrm>
          <a:prstGeom prst="rect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dirty="0"/>
              <a:t>Binary Search Tree (BST)</a:t>
            </a:r>
          </a:p>
        </p:txBody>
      </p:sp>
      <p:sp>
        <p:nvSpPr>
          <p:cNvPr id="3" name="Rectangle 2"/>
          <p:cNvSpPr/>
          <p:nvPr/>
        </p:nvSpPr>
        <p:spPr>
          <a:xfrm rot="9608687">
            <a:off x="2902425" y="2678491"/>
            <a:ext cx="3499895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7481709">
            <a:off x="1697722" y="3827467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7481709">
            <a:off x="853723" y="5039048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2150259">
            <a:off x="2663788" y="3832986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7481709">
            <a:off x="3264915" y="5118968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3318291">
            <a:off x="4201305" y="5170002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1542597">
            <a:off x="6036981" y="2708232"/>
            <a:ext cx="274015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 rot="8649741">
            <a:off x="6806515" y="3844808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 rot="3318293">
            <a:off x="6556581" y="4936137"/>
            <a:ext cx="1445792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3318291">
            <a:off x="8263114" y="3721393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33872" y="1820431"/>
            <a:ext cx="667289" cy="58521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US" dirty="0"/>
              <a:t>50</a:t>
            </a:r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2542031" y="2999232"/>
            <a:ext cx="725275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30</a:t>
            </a:r>
          </a:p>
        </p:txBody>
      </p:sp>
      <p:sp>
        <p:nvSpPr>
          <p:cNvPr id="15" name="Oval 14"/>
          <p:cNvSpPr/>
          <p:nvPr/>
        </p:nvSpPr>
        <p:spPr>
          <a:xfrm>
            <a:off x="1719072" y="4187952"/>
            <a:ext cx="655816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376672"/>
            <a:ext cx="697664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17" name="Oval 16"/>
          <p:cNvSpPr/>
          <p:nvPr/>
        </p:nvSpPr>
        <p:spPr>
          <a:xfrm>
            <a:off x="4097960" y="4208989"/>
            <a:ext cx="655816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44</a:t>
            </a:r>
          </a:p>
        </p:txBody>
      </p:sp>
      <p:sp>
        <p:nvSpPr>
          <p:cNvPr id="18" name="Oval 17"/>
          <p:cNvSpPr/>
          <p:nvPr/>
        </p:nvSpPr>
        <p:spPr>
          <a:xfrm>
            <a:off x="3371104" y="5425737"/>
            <a:ext cx="697664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43</a:t>
            </a:r>
          </a:p>
        </p:txBody>
      </p:sp>
      <p:sp>
        <p:nvSpPr>
          <p:cNvPr id="19" name="Oval 18"/>
          <p:cNvSpPr/>
          <p:nvPr/>
        </p:nvSpPr>
        <p:spPr>
          <a:xfrm>
            <a:off x="4928052" y="5425737"/>
            <a:ext cx="712189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45</a:t>
            </a:r>
          </a:p>
        </p:txBody>
      </p:sp>
      <p:sp>
        <p:nvSpPr>
          <p:cNvPr id="20" name="Oval 19"/>
          <p:cNvSpPr/>
          <p:nvPr/>
        </p:nvSpPr>
        <p:spPr>
          <a:xfrm>
            <a:off x="8302752" y="2999232"/>
            <a:ext cx="677148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70</a:t>
            </a:r>
          </a:p>
        </p:txBody>
      </p:sp>
      <p:sp>
        <p:nvSpPr>
          <p:cNvPr id="21" name="Oval 20"/>
          <p:cNvSpPr/>
          <p:nvPr/>
        </p:nvSpPr>
        <p:spPr>
          <a:xfrm>
            <a:off x="6656832" y="4187952"/>
            <a:ext cx="655816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22" name="Oval 21"/>
          <p:cNvSpPr/>
          <p:nvPr/>
        </p:nvSpPr>
        <p:spPr>
          <a:xfrm>
            <a:off x="7405235" y="5416496"/>
            <a:ext cx="727508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68</a:t>
            </a:r>
          </a:p>
        </p:txBody>
      </p:sp>
      <p:sp>
        <p:nvSpPr>
          <p:cNvPr id="23" name="Oval 22"/>
          <p:cNvSpPr/>
          <p:nvPr/>
        </p:nvSpPr>
        <p:spPr>
          <a:xfrm>
            <a:off x="9125712" y="4187952"/>
            <a:ext cx="656974" cy="585216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5171" y="1481322"/>
            <a:ext cx="237744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dirty="0"/>
              <a:t>Legend</a:t>
            </a:r>
          </a:p>
          <a:p>
            <a:pPr>
              <a:defRPr sz="1200"/>
            </a:pPr>
            <a:r>
              <a:rPr dirty="0">
                <a:solidFill>
                  <a:schemeClr val="tx1"/>
                </a:solidFill>
              </a:rPr>
              <a:t>Green = Root node</a:t>
            </a:r>
          </a:p>
          <a:p>
            <a:pPr>
              <a:defRPr sz="1200"/>
            </a:pPr>
            <a:r>
              <a:rPr dirty="0">
                <a:solidFill>
                  <a:schemeClr val="tx1"/>
                </a:solidFill>
              </a:rPr>
              <a:t>Blue = Regular node</a:t>
            </a:r>
          </a:p>
          <a:p>
            <a:pPr>
              <a:defRPr sz="1200"/>
            </a:pPr>
            <a:r>
              <a:rPr dirty="0">
                <a:solidFill>
                  <a:schemeClr val="tx1"/>
                </a:solidFill>
              </a:rPr>
              <a:t>Gray lines = edges</a:t>
            </a:r>
          </a:p>
        </p:txBody>
      </p:sp>
      <p:sp>
        <p:nvSpPr>
          <p:cNvPr id="25" name="Up Arrow 24">
            <a:extLst>
              <a:ext uri="{FF2B5EF4-FFF2-40B4-BE49-F238E27FC236}">
                <a16:creationId xmlns:a16="http://schemas.microsoft.com/office/drawing/2014/main" id="{FB7E1C91-DC30-6503-9207-4982D4CB9674}"/>
              </a:ext>
            </a:extLst>
          </p:cNvPr>
          <p:cNvSpPr/>
          <p:nvPr/>
        </p:nvSpPr>
        <p:spPr>
          <a:xfrm>
            <a:off x="1086595" y="6070055"/>
            <a:ext cx="247558" cy="4237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Up Arrow 25">
            <a:extLst>
              <a:ext uri="{FF2B5EF4-FFF2-40B4-BE49-F238E27FC236}">
                <a16:creationId xmlns:a16="http://schemas.microsoft.com/office/drawing/2014/main" id="{C4035B21-88F5-AF2F-D3C1-DEC6F27341C1}"/>
              </a:ext>
            </a:extLst>
          </p:cNvPr>
          <p:cNvSpPr/>
          <p:nvPr/>
        </p:nvSpPr>
        <p:spPr>
          <a:xfrm>
            <a:off x="3596157" y="6070055"/>
            <a:ext cx="247558" cy="4237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Up Arrow 26">
            <a:extLst>
              <a:ext uri="{FF2B5EF4-FFF2-40B4-BE49-F238E27FC236}">
                <a16:creationId xmlns:a16="http://schemas.microsoft.com/office/drawing/2014/main" id="{2DFD9A44-05F2-846E-33F9-F3B9062B7253}"/>
              </a:ext>
            </a:extLst>
          </p:cNvPr>
          <p:cNvSpPr/>
          <p:nvPr/>
        </p:nvSpPr>
        <p:spPr>
          <a:xfrm>
            <a:off x="5160367" y="6084552"/>
            <a:ext cx="247558" cy="4237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Up Arrow 27">
            <a:extLst>
              <a:ext uri="{FF2B5EF4-FFF2-40B4-BE49-F238E27FC236}">
                <a16:creationId xmlns:a16="http://schemas.microsoft.com/office/drawing/2014/main" id="{ACFFC848-0947-0C2F-7204-2D019B09AC07}"/>
              </a:ext>
            </a:extLst>
          </p:cNvPr>
          <p:cNvSpPr/>
          <p:nvPr/>
        </p:nvSpPr>
        <p:spPr>
          <a:xfrm>
            <a:off x="7645210" y="6080538"/>
            <a:ext cx="247558" cy="4237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6212BD-BC76-1609-BA53-0BCD30C4EC9C}"/>
              </a:ext>
            </a:extLst>
          </p:cNvPr>
          <p:cNvSpPr txBox="1"/>
          <p:nvPr/>
        </p:nvSpPr>
        <p:spPr>
          <a:xfrm>
            <a:off x="868726" y="6451651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BBA264-BA84-C72F-0CD1-F3CA50CFD690}"/>
              </a:ext>
            </a:extLst>
          </p:cNvPr>
          <p:cNvSpPr txBox="1"/>
          <p:nvPr/>
        </p:nvSpPr>
        <p:spPr>
          <a:xfrm>
            <a:off x="3389236" y="6434699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1268FC-AF03-91A6-CF30-7F430B7B077F}"/>
              </a:ext>
            </a:extLst>
          </p:cNvPr>
          <p:cNvSpPr txBox="1"/>
          <p:nvPr/>
        </p:nvSpPr>
        <p:spPr>
          <a:xfrm>
            <a:off x="4953446" y="6434699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F76A5F-B69D-5C45-D6D7-E1B912B47FEE}"/>
              </a:ext>
            </a:extLst>
          </p:cNvPr>
          <p:cNvSpPr txBox="1"/>
          <p:nvPr/>
        </p:nvSpPr>
        <p:spPr>
          <a:xfrm>
            <a:off x="7438289" y="6434699"/>
            <a:ext cx="66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Leaf</a:t>
            </a:r>
          </a:p>
        </p:txBody>
      </p:sp>
      <p:sp>
        <p:nvSpPr>
          <p:cNvPr id="33" name="Left Arrow 32">
            <a:extLst>
              <a:ext uri="{FF2B5EF4-FFF2-40B4-BE49-F238E27FC236}">
                <a16:creationId xmlns:a16="http://schemas.microsoft.com/office/drawing/2014/main" id="{6E1D2864-3F03-4908-D7BA-51BE9D087304}"/>
              </a:ext>
            </a:extLst>
          </p:cNvPr>
          <p:cNvSpPr/>
          <p:nvPr/>
        </p:nvSpPr>
        <p:spPr>
          <a:xfrm>
            <a:off x="9087798" y="3161753"/>
            <a:ext cx="992903" cy="18429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eft Arrow 33">
            <a:extLst>
              <a:ext uri="{FF2B5EF4-FFF2-40B4-BE49-F238E27FC236}">
                <a16:creationId xmlns:a16="http://schemas.microsoft.com/office/drawing/2014/main" id="{77C4CEF6-9F71-0C16-B8AC-54CFD6F03D1C}"/>
              </a:ext>
            </a:extLst>
          </p:cNvPr>
          <p:cNvSpPr/>
          <p:nvPr/>
        </p:nvSpPr>
        <p:spPr>
          <a:xfrm>
            <a:off x="9809464" y="4399443"/>
            <a:ext cx="656974" cy="18604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B07A56-1EA5-101E-C167-EAC0E716AF5F}"/>
              </a:ext>
            </a:extLst>
          </p:cNvPr>
          <p:cNvSpPr txBox="1"/>
          <p:nvPr/>
        </p:nvSpPr>
        <p:spPr>
          <a:xfrm>
            <a:off x="10188876" y="3070110"/>
            <a:ext cx="155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Predecessor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3076D1-E51D-E480-80AE-9AAED3BFCF02}"/>
              </a:ext>
            </a:extLst>
          </p:cNvPr>
          <p:cNvSpPr txBox="1"/>
          <p:nvPr/>
        </p:nvSpPr>
        <p:spPr>
          <a:xfrm>
            <a:off x="10494417" y="4307800"/>
            <a:ext cx="133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Successor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542945E-D121-C350-4200-A067BEC4F2D5}"/>
              </a:ext>
            </a:extLst>
          </p:cNvPr>
          <p:cNvSpPr/>
          <p:nvPr/>
        </p:nvSpPr>
        <p:spPr>
          <a:xfrm>
            <a:off x="557562" y="2670705"/>
            <a:ext cx="5276310" cy="3399350"/>
          </a:xfrm>
          <a:prstGeom prst="round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E83A23-0A7F-E5EC-B60A-66D3B405F8D3}"/>
              </a:ext>
            </a:extLst>
          </p:cNvPr>
          <p:cNvSpPr txBox="1"/>
          <p:nvPr/>
        </p:nvSpPr>
        <p:spPr>
          <a:xfrm>
            <a:off x="4057292" y="2844786"/>
            <a:ext cx="1520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 Subtree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F85CC70-F541-9DB8-BE93-003A62712272}"/>
              </a:ext>
            </a:extLst>
          </p:cNvPr>
          <p:cNvSpPr/>
          <p:nvPr/>
        </p:nvSpPr>
        <p:spPr>
          <a:xfrm>
            <a:off x="6364225" y="2852922"/>
            <a:ext cx="3837432" cy="3227616"/>
          </a:xfrm>
          <a:prstGeom prst="round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22A9A4-E71F-FA07-F366-04542A26B756}"/>
              </a:ext>
            </a:extLst>
          </p:cNvPr>
          <p:cNvSpPr txBox="1"/>
          <p:nvPr/>
        </p:nvSpPr>
        <p:spPr>
          <a:xfrm>
            <a:off x="6413956" y="2999232"/>
            <a:ext cx="1659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 Subtree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7AB2CB-790C-F82F-2443-08660CB5E978}"/>
              </a:ext>
            </a:extLst>
          </p:cNvPr>
          <p:cNvSpPr txBox="1"/>
          <p:nvPr/>
        </p:nvSpPr>
        <p:spPr>
          <a:xfrm>
            <a:off x="88176" y="1515657"/>
            <a:ext cx="5955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Array of Values 50,70,30,25,21,44,65,85,68,25,43,45</a:t>
            </a:r>
          </a:p>
          <a:p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C8AA4B-8EA0-A2D8-70BC-0113E5D73183}"/>
              </a:ext>
            </a:extLst>
          </p:cNvPr>
          <p:cNvSpPr txBox="1"/>
          <p:nvPr/>
        </p:nvSpPr>
        <p:spPr>
          <a:xfrm>
            <a:off x="816566" y="3051904"/>
            <a:ext cx="830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BD818F-E4AF-2483-E6FF-8046ADD417FC}"/>
              </a:ext>
            </a:extLst>
          </p:cNvPr>
          <p:cNvSpPr txBox="1"/>
          <p:nvPr/>
        </p:nvSpPr>
        <p:spPr>
          <a:xfrm>
            <a:off x="637781" y="3885013"/>
            <a:ext cx="114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 Child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4B5E67-CE2B-A430-0640-88158AAF31E4}"/>
              </a:ext>
            </a:extLst>
          </p:cNvPr>
          <p:cNvSpPr txBox="1"/>
          <p:nvPr/>
        </p:nvSpPr>
        <p:spPr>
          <a:xfrm>
            <a:off x="2476192" y="3836408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 Child</a:t>
            </a:r>
          </a:p>
        </p:txBody>
      </p:sp>
      <p:sp>
        <p:nvSpPr>
          <p:cNvPr id="45" name="Right Arrow 44">
            <a:extLst>
              <a:ext uri="{FF2B5EF4-FFF2-40B4-BE49-F238E27FC236}">
                <a16:creationId xmlns:a16="http://schemas.microsoft.com/office/drawing/2014/main" id="{0C0A5AA1-0938-D1F1-B5FC-ED97C5139314}"/>
              </a:ext>
            </a:extLst>
          </p:cNvPr>
          <p:cNvSpPr/>
          <p:nvPr/>
        </p:nvSpPr>
        <p:spPr>
          <a:xfrm>
            <a:off x="1625480" y="3165731"/>
            <a:ext cx="828629" cy="154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Bent Arrow 45">
            <a:extLst>
              <a:ext uri="{FF2B5EF4-FFF2-40B4-BE49-F238E27FC236}">
                <a16:creationId xmlns:a16="http://schemas.microsoft.com/office/drawing/2014/main" id="{A8AC442B-8118-A51B-87F2-8AD467062949}"/>
              </a:ext>
            </a:extLst>
          </p:cNvPr>
          <p:cNvSpPr/>
          <p:nvPr/>
        </p:nvSpPr>
        <p:spPr>
          <a:xfrm flipV="1">
            <a:off x="985464" y="4252755"/>
            <a:ext cx="610061" cy="273277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Bent Arrow 46">
            <a:extLst>
              <a:ext uri="{FF2B5EF4-FFF2-40B4-BE49-F238E27FC236}">
                <a16:creationId xmlns:a16="http://schemas.microsoft.com/office/drawing/2014/main" id="{65BDC42D-AF7F-B673-6B14-5DD245ACA826}"/>
              </a:ext>
            </a:extLst>
          </p:cNvPr>
          <p:cNvSpPr/>
          <p:nvPr/>
        </p:nvSpPr>
        <p:spPr>
          <a:xfrm flipV="1">
            <a:off x="3088187" y="4259898"/>
            <a:ext cx="883282" cy="273277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60175" cy="1051560"/>
          </a:xfrm>
          <a:prstGeom prst="rect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Inorder Traversal</a:t>
            </a:r>
          </a:p>
          <a:p>
            <a:pPr algn="ctr">
              <a:defRPr sz="1600">
                <a:solidFill>
                  <a:srgbClr val="C7D2FE"/>
                </a:solidFill>
              </a:defRPr>
            </a:pPr>
            <a:r>
              <a:t>Visit Left → Root → Right (sorted order for BST)</a:t>
            </a:r>
          </a:p>
        </p:txBody>
      </p:sp>
      <p:sp>
        <p:nvSpPr>
          <p:cNvPr id="3" name="Rectangle 2"/>
          <p:cNvSpPr/>
          <p:nvPr/>
        </p:nvSpPr>
        <p:spPr>
          <a:xfrm rot="9608687">
            <a:off x="2766316" y="2652997"/>
            <a:ext cx="3499895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7481709">
            <a:off x="1709408" y="3902000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7481709">
            <a:off x="886448" y="5065072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2150259">
            <a:off x="2731070" y="3915869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7481709">
            <a:off x="3388035" y="4947607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3318291">
            <a:off x="4234181" y="5161904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1542597">
            <a:off x="6121118" y="2658483"/>
            <a:ext cx="274015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 rot="8649741">
            <a:off x="6843426" y="3826967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 rot="3318293">
            <a:off x="6618723" y="5065071"/>
            <a:ext cx="1445792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3318291">
            <a:off x="8302232" y="3856650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52159" y="1828800"/>
            <a:ext cx="647341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4" name="Oval 13"/>
          <p:cNvSpPr/>
          <p:nvPr/>
        </p:nvSpPr>
        <p:spPr>
          <a:xfrm>
            <a:off x="2560320" y="3017520"/>
            <a:ext cx="649370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15" name="Oval 14"/>
          <p:cNvSpPr/>
          <p:nvPr/>
        </p:nvSpPr>
        <p:spPr>
          <a:xfrm>
            <a:off x="1737360" y="4206240"/>
            <a:ext cx="622822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60"/>
            <a:ext cx="635620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17" name="Oval 16"/>
          <p:cNvSpPr/>
          <p:nvPr/>
        </p:nvSpPr>
        <p:spPr>
          <a:xfrm>
            <a:off x="4206240" y="4206240"/>
            <a:ext cx="650136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44</a:t>
            </a:r>
          </a:p>
        </p:txBody>
      </p:sp>
      <p:sp>
        <p:nvSpPr>
          <p:cNvPr id="18" name="Oval 17"/>
          <p:cNvSpPr/>
          <p:nvPr/>
        </p:nvSpPr>
        <p:spPr>
          <a:xfrm>
            <a:off x="3383280" y="5394960"/>
            <a:ext cx="653922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43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0" y="5394960"/>
            <a:ext cx="64903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45</a:t>
            </a:r>
          </a:p>
        </p:txBody>
      </p:sp>
      <p:sp>
        <p:nvSpPr>
          <p:cNvPr id="20" name="Oval 19"/>
          <p:cNvSpPr/>
          <p:nvPr/>
        </p:nvSpPr>
        <p:spPr>
          <a:xfrm>
            <a:off x="8321040" y="3017520"/>
            <a:ext cx="720990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70</a:t>
            </a:r>
          </a:p>
        </p:txBody>
      </p:sp>
      <p:sp>
        <p:nvSpPr>
          <p:cNvPr id="21" name="Oval 20"/>
          <p:cNvSpPr/>
          <p:nvPr/>
        </p:nvSpPr>
        <p:spPr>
          <a:xfrm>
            <a:off x="6675119" y="4206240"/>
            <a:ext cx="66868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22" name="Oval 21"/>
          <p:cNvSpPr/>
          <p:nvPr/>
        </p:nvSpPr>
        <p:spPr>
          <a:xfrm>
            <a:off x="7498079" y="5394960"/>
            <a:ext cx="64903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68</a:t>
            </a:r>
          </a:p>
        </p:txBody>
      </p:sp>
      <p:sp>
        <p:nvSpPr>
          <p:cNvPr id="23" name="Oval 22"/>
          <p:cNvSpPr/>
          <p:nvPr/>
        </p:nvSpPr>
        <p:spPr>
          <a:xfrm>
            <a:off x="9055850" y="4227495"/>
            <a:ext cx="639474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85</a:t>
            </a:r>
          </a:p>
        </p:txBody>
      </p:sp>
      <p:sp>
        <p:nvSpPr>
          <p:cNvPr id="24" name="Oval 23"/>
          <p:cNvSpPr/>
          <p:nvPr/>
        </p:nvSpPr>
        <p:spPr>
          <a:xfrm>
            <a:off x="1603546" y="5212080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2422737" y="4092498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3103161" y="2660119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4037202" y="5248656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4848972" y="3980114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29" name="Oval 28"/>
          <p:cNvSpPr/>
          <p:nvPr/>
        </p:nvSpPr>
        <p:spPr>
          <a:xfrm>
            <a:off x="5725159" y="5265606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30" name="Oval 29"/>
          <p:cNvSpPr/>
          <p:nvPr/>
        </p:nvSpPr>
        <p:spPr>
          <a:xfrm>
            <a:off x="6550795" y="1644451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Oval 30"/>
          <p:cNvSpPr/>
          <p:nvPr/>
        </p:nvSpPr>
        <p:spPr>
          <a:xfrm>
            <a:off x="7451673" y="4306824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2" name="Oval 31"/>
          <p:cNvSpPr/>
          <p:nvPr/>
        </p:nvSpPr>
        <p:spPr>
          <a:xfrm>
            <a:off x="8084688" y="5212080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0" y="6035040"/>
            <a:ext cx="10698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Inorder:  21 → 25 → 30 → 43 → 44 → 45 → 50 → 65 → 68 → 70 → 85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F012743-77D2-4174-91F3-9494BC528680}"/>
              </a:ext>
            </a:extLst>
          </p:cNvPr>
          <p:cNvSpPr/>
          <p:nvPr/>
        </p:nvSpPr>
        <p:spPr>
          <a:xfrm>
            <a:off x="9086843" y="2726873"/>
            <a:ext cx="485155" cy="43409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6785927-4FCF-9765-CD93-BC8878A6112D}"/>
              </a:ext>
            </a:extLst>
          </p:cNvPr>
          <p:cNvSpPr/>
          <p:nvPr/>
        </p:nvSpPr>
        <p:spPr>
          <a:xfrm>
            <a:off x="9766526" y="3980114"/>
            <a:ext cx="485155" cy="43409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60175" cy="1051560"/>
          </a:xfrm>
          <a:prstGeom prst="rect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Preorder Traversal</a:t>
            </a:r>
          </a:p>
          <a:p>
            <a:pPr algn="ctr">
              <a:defRPr sz="1600">
                <a:solidFill>
                  <a:srgbClr val="C7D2FE"/>
                </a:solidFill>
              </a:defRPr>
            </a:pPr>
            <a:r>
              <a:t>Visit Root → Left → Right</a:t>
            </a:r>
          </a:p>
        </p:txBody>
      </p:sp>
      <p:sp>
        <p:nvSpPr>
          <p:cNvPr id="3" name="Rectangle 2"/>
          <p:cNvSpPr/>
          <p:nvPr/>
        </p:nvSpPr>
        <p:spPr>
          <a:xfrm rot="9608687">
            <a:off x="2819474" y="2657556"/>
            <a:ext cx="3499895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7481709">
            <a:off x="1732316" y="3822641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7481709">
            <a:off x="802455" y="5136536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2150259">
            <a:off x="2657776" y="3927105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7481709">
            <a:off x="3334750" y="5098943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3318291">
            <a:off x="4109585" y="4983111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1542597">
            <a:off x="6135794" y="2704908"/>
            <a:ext cx="274015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 rot="8649741">
            <a:off x="6842264" y="3807774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 rot="3318293">
            <a:off x="6611868" y="5028038"/>
            <a:ext cx="1445792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rot="3318291">
            <a:off x="8263113" y="3725717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97164" y="1872301"/>
            <a:ext cx="726363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14" name="Oval 13"/>
          <p:cNvSpPr/>
          <p:nvPr/>
        </p:nvSpPr>
        <p:spPr>
          <a:xfrm>
            <a:off x="2501949" y="3039776"/>
            <a:ext cx="671116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15" name="Oval 14"/>
          <p:cNvSpPr/>
          <p:nvPr/>
        </p:nvSpPr>
        <p:spPr>
          <a:xfrm>
            <a:off x="1737359" y="4206240"/>
            <a:ext cx="648977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16" name="Oval 15"/>
          <p:cNvSpPr/>
          <p:nvPr/>
        </p:nvSpPr>
        <p:spPr>
          <a:xfrm>
            <a:off x="914399" y="5394960"/>
            <a:ext cx="669073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17" name="Oval 16"/>
          <p:cNvSpPr/>
          <p:nvPr/>
        </p:nvSpPr>
        <p:spPr>
          <a:xfrm>
            <a:off x="4138814" y="4262809"/>
            <a:ext cx="64897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44</a:t>
            </a:r>
          </a:p>
        </p:txBody>
      </p:sp>
      <p:sp>
        <p:nvSpPr>
          <p:cNvPr id="18" name="Oval 17"/>
          <p:cNvSpPr/>
          <p:nvPr/>
        </p:nvSpPr>
        <p:spPr>
          <a:xfrm>
            <a:off x="3383279" y="5394960"/>
            <a:ext cx="630167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43</a:t>
            </a:r>
          </a:p>
        </p:txBody>
      </p:sp>
      <p:sp>
        <p:nvSpPr>
          <p:cNvPr id="19" name="Oval 18"/>
          <p:cNvSpPr/>
          <p:nvPr/>
        </p:nvSpPr>
        <p:spPr>
          <a:xfrm>
            <a:off x="4962788" y="5383950"/>
            <a:ext cx="630167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45</a:t>
            </a:r>
          </a:p>
        </p:txBody>
      </p:sp>
      <p:sp>
        <p:nvSpPr>
          <p:cNvPr id="20" name="Oval 19"/>
          <p:cNvSpPr/>
          <p:nvPr/>
        </p:nvSpPr>
        <p:spPr>
          <a:xfrm>
            <a:off x="8321039" y="3017520"/>
            <a:ext cx="718665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70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4206240"/>
            <a:ext cx="64897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22" name="Oval 21"/>
          <p:cNvSpPr/>
          <p:nvPr/>
        </p:nvSpPr>
        <p:spPr>
          <a:xfrm>
            <a:off x="7498078" y="5394960"/>
            <a:ext cx="680477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68</a:t>
            </a:r>
          </a:p>
        </p:txBody>
      </p:sp>
      <p:sp>
        <p:nvSpPr>
          <p:cNvPr id="23" name="Oval 22"/>
          <p:cNvSpPr/>
          <p:nvPr/>
        </p:nvSpPr>
        <p:spPr>
          <a:xfrm>
            <a:off x="9143999" y="4206240"/>
            <a:ext cx="691897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85</a:t>
            </a:r>
          </a:p>
        </p:txBody>
      </p:sp>
      <p:sp>
        <p:nvSpPr>
          <p:cNvPr id="24" name="Oval 23"/>
          <p:cNvSpPr/>
          <p:nvPr/>
        </p:nvSpPr>
        <p:spPr>
          <a:xfrm>
            <a:off x="6456683" y="1638765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2958260" y="2669260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2456438" y="4185246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556573" y="5255017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4736592" y="4059936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Oval 28"/>
          <p:cNvSpPr/>
          <p:nvPr/>
        </p:nvSpPr>
        <p:spPr>
          <a:xfrm>
            <a:off x="4092946" y="5243044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0" name="Oval 29"/>
          <p:cNvSpPr/>
          <p:nvPr/>
        </p:nvSpPr>
        <p:spPr>
          <a:xfrm>
            <a:off x="5525693" y="5186480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Oval 30"/>
          <p:cNvSpPr/>
          <p:nvPr/>
        </p:nvSpPr>
        <p:spPr>
          <a:xfrm>
            <a:off x="9039703" y="2779327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2" name="Oval 31"/>
          <p:cNvSpPr/>
          <p:nvPr/>
        </p:nvSpPr>
        <p:spPr>
          <a:xfrm>
            <a:off x="7440314" y="4317607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3" name="Oval 32"/>
          <p:cNvSpPr/>
          <p:nvPr/>
        </p:nvSpPr>
        <p:spPr>
          <a:xfrm>
            <a:off x="8262233" y="5243044"/>
            <a:ext cx="485155" cy="43409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4" name="Oval 33"/>
          <p:cNvSpPr/>
          <p:nvPr/>
        </p:nvSpPr>
        <p:spPr>
          <a:xfrm>
            <a:off x="9925392" y="4054068"/>
            <a:ext cx="445241" cy="36801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109" y="6025193"/>
            <a:ext cx="10698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Preorder:  50 → 30 → 25 → 21 → 44 → 43 → 45 → 70 → 65 → 68 → 85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20040"/>
            <a:ext cx="11460175" cy="1051560"/>
          </a:xfrm>
          <a:prstGeom prst="rect">
            <a:avLst/>
          </a:prstGeom>
          <a:solidFill>
            <a:srgbClr val="0B3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Postorder Traversal</a:t>
            </a:r>
          </a:p>
          <a:p>
            <a:pPr algn="ctr">
              <a:defRPr sz="1600">
                <a:solidFill>
                  <a:srgbClr val="C7D2FE"/>
                </a:solidFill>
              </a:defRPr>
            </a:pPr>
            <a:r>
              <a:t>Visit Left → Right → Root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0" y="6090796"/>
            <a:ext cx="10698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F172A"/>
                </a:solidFill>
              </a:defRPr>
            </a:pPr>
            <a:r>
              <a:t>Postorder:  21 → 25 → 43 → 45 → 44 → 30 → 68 → 65 → 85 → 70 → 50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E1AFF4-3068-6E2A-1551-21A243D1E0DD}"/>
              </a:ext>
            </a:extLst>
          </p:cNvPr>
          <p:cNvSpPr/>
          <p:nvPr/>
        </p:nvSpPr>
        <p:spPr>
          <a:xfrm rot="9608687">
            <a:off x="2766316" y="2652997"/>
            <a:ext cx="3499895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BA9D32-7821-631E-3DA4-F99142959FA8}"/>
              </a:ext>
            </a:extLst>
          </p:cNvPr>
          <p:cNvSpPr/>
          <p:nvPr/>
        </p:nvSpPr>
        <p:spPr>
          <a:xfrm rot="7481709">
            <a:off x="1709408" y="3902000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96FC63-991A-B5C2-8552-6705A2A57B27}"/>
              </a:ext>
            </a:extLst>
          </p:cNvPr>
          <p:cNvSpPr/>
          <p:nvPr/>
        </p:nvSpPr>
        <p:spPr>
          <a:xfrm rot="7481709">
            <a:off x="886448" y="5065072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F27EA3-A959-FD4D-A132-D3BB29AA6F24}"/>
              </a:ext>
            </a:extLst>
          </p:cNvPr>
          <p:cNvSpPr/>
          <p:nvPr/>
        </p:nvSpPr>
        <p:spPr>
          <a:xfrm rot="2150259">
            <a:off x="2731070" y="3915869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E64B222-EFEE-6C33-BA13-DBCE96FF4A7E}"/>
              </a:ext>
            </a:extLst>
          </p:cNvPr>
          <p:cNvSpPr/>
          <p:nvPr/>
        </p:nvSpPr>
        <p:spPr>
          <a:xfrm rot="7481709">
            <a:off x="3388035" y="4947607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F38523-7E7B-FA86-408C-E874C1E62D12}"/>
              </a:ext>
            </a:extLst>
          </p:cNvPr>
          <p:cNvSpPr/>
          <p:nvPr/>
        </p:nvSpPr>
        <p:spPr>
          <a:xfrm rot="3318291">
            <a:off x="4234181" y="5161904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25AF3A3-A389-3794-35F1-C3C6808DB27C}"/>
              </a:ext>
            </a:extLst>
          </p:cNvPr>
          <p:cNvSpPr/>
          <p:nvPr/>
        </p:nvSpPr>
        <p:spPr>
          <a:xfrm rot="1542597">
            <a:off x="6121118" y="2658483"/>
            <a:ext cx="274015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C8017A0-3AD4-2911-31BD-0C22D1962EEA}"/>
              </a:ext>
            </a:extLst>
          </p:cNvPr>
          <p:cNvSpPr/>
          <p:nvPr/>
        </p:nvSpPr>
        <p:spPr>
          <a:xfrm rot="8649741">
            <a:off x="6843426" y="3826967"/>
            <a:ext cx="2030297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17B9B7-F32C-FBE3-ACD0-50889B203884}"/>
              </a:ext>
            </a:extLst>
          </p:cNvPr>
          <p:cNvSpPr/>
          <p:nvPr/>
        </p:nvSpPr>
        <p:spPr>
          <a:xfrm rot="3318293">
            <a:off x="6618723" y="5065071"/>
            <a:ext cx="1445792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A294C8-6567-F643-98A6-92D5625B8F54}"/>
              </a:ext>
            </a:extLst>
          </p:cNvPr>
          <p:cNvSpPr/>
          <p:nvPr/>
        </p:nvSpPr>
        <p:spPr>
          <a:xfrm rot="3318291">
            <a:off x="8302232" y="3856650"/>
            <a:ext cx="1445793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461C149-37D2-6B62-CE8D-1F4B64480322}"/>
              </a:ext>
            </a:extLst>
          </p:cNvPr>
          <p:cNvSpPr/>
          <p:nvPr/>
        </p:nvSpPr>
        <p:spPr>
          <a:xfrm>
            <a:off x="5852159" y="1828800"/>
            <a:ext cx="647341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9D50C8C-774E-354C-F4D7-CC5FD9D25A6C}"/>
              </a:ext>
            </a:extLst>
          </p:cNvPr>
          <p:cNvSpPr/>
          <p:nvPr/>
        </p:nvSpPr>
        <p:spPr>
          <a:xfrm>
            <a:off x="2560320" y="3017520"/>
            <a:ext cx="649370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F6BC465-47F1-9DDF-389F-49FE07B3266C}"/>
              </a:ext>
            </a:extLst>
          </p:cNvPr>
          <p:cNvSpPr/>
          <p:nvPr/>
        </p:nvSpPr>
        <p:spPr>
          <a:xfrm>
            <a:off x="1737360" y="4206240"/>
            <a:ext cx="622822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3570928-745B-2994-D7ED-0C86597C8DE5}"/>
              </a:ext>
            </a:extLst>
          </p:cNvPr>
          <p:cNvSpPr/>
          <p:nvPr/>
        </p:nvSpPr>
        <p:spPr>
          <a:xfrm>
            <a:off x="914400" y="5394960"/>
            <a:ext cx="635620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70FCE8B-5473-F703-2292-5A0265CF7922}"/>
              </a:ext>
            </a:extLst>
          </p:cNvPr>
          <p:cNvSpPr/>
          <p:nvPr/>
        </p:nvSpPr>
        <p:spPr>
          <a:xfrm>
            <a:off x="4206240" y="4206240"/>
            <a:ext cx="650136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061E654-0D99-ADC2-7608-AE88E95335F9}"/>
              </a:ext>
            </a:extLst>
          </p:cNvPr>
          <p:cNvSpPr/>
          <p:nvPr/>
        </p:nvSpPr>
        <p:spPr>
          <a:xfrm>
            <a:off x="3383280" y="5394960"/>
            <a:ext cx="653922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43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B957064-0E93-11F7-CD83-969B82ACF51F}"/>
              </a:ext>
            </a:extLst>
          </p:cNvPr>
          <p:cNvSpPr/>
          <p:nvPr/>
        </p:nvSpPr>
        <p:spPr>
          <a:xfrm>
            <a:off x="5029200" y="5394960"/>
            <a:ext cx="64903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45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B6F9210-4B43-D56D-E235-5F539E4BB9B1}"/>
              </a:ext>
            </a:extLst>
          </p:cNvPr>
          <p:cNvSpPr/>
          <p:nvPr/>
        </p:nvSpPr>
        <p:spPr>
          <a:xfrm>
            <a:off x="8321040" y="3017520"/>
            <a:ext cx="720990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70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A1D8369-B47A-E1FE-FD1C-B7DB1234DCA1}"/>
              </a:ext>
            </a:extLst>
          </p:cNvPr>
          <p:cNvSpPr/>
          <p:nvPr/>
        </p:nvSpPr>
        <p:spPr>
          <a:xfrm>
            <a:off x="6675119" y="4206240"/>
            <a:ext cx="66868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A47CD5A-D657-3BF8-FC27-D35E45DCCFF0}"/>
              </a:ext>
            </a:extLst>
          </p:cNvPr>
          <p:cNvSpPr/>
          <p:nvPr/>
        </p:nvSpPr>
        <p:spPr>
          <a:xfrm>
            <a:off x="7498079" y="5394960"/>
            <a:ext cx="649038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68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8BDBCB1-483A-BA5F-A9E2-ED6914C82161}"/>
              </a:ext>
            </a:extLst>
          </p:cNvPr>
          <p:cNvSpPr/>
          <p:nvPr/>
        </p:nvSpPr>
        <p:spPr>
          <a:xfrm>
            <a:off x="9055850" y="4227495"/>
            <a:ext cx="639474" cy="548640"/>
          </a:xfrm>
          <a:prstGeom prst="ellipse">
            <a:avLst/>
          </a:prstGeom>
          <a:solidFill>
            <a:srgbClr val="2F7CF6"/>
          </a:solidFill>
          <a:ln w="25400">
            <a:solidFill>
              <a:srgbClr val="1E4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85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F35589B-4977-E7FC-A6D2-B1A43E5BC654}"/>
              </a:ext>
            </a:extLst>
          </p:cNvPr>
          <p:cNvSpPr/>
          <p:nvPr/>
        </p:nvSpPr>
        <p:spPr>
          <a:xfrm>
            <a:off x="1603546" y="5212080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D21EC1E-18D1-97A0-2EDB-BD91A11365E2}"/>
              </a:ext>
            </a:extLst>
          </p:cNvPr>
          <p:cNvSpPr/>
          <p:nvPr/>
        </p:nvSpPr>
        <p:spPr>
          <a:xfrm>
            <a:off x="2422737" y="4092498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D1D9A30-506D-818C-274F-69A3C7A2A0C1}"/>
              </a:ext>
            </a:extLst>
          </p:cNvPr>
          <p:cNvSpPr/>
          <p:nvPr/>
        </p:nvSpPr>
        <p:spPr>
          <a:xfrm>
            <a:off x="2957821" y="5490623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D1FCFDD-5FD0-C8C5-EAA5-6AB6BE23DA25}"/>
              </a:ext>
            </a:extLst>
          </p:cNvPr>
          <p:cNvSpPr/>
          <p:nvPr/>
        </p:nvSpPr>
        <p:spPr>
          <a:xfrm>
            <a:off x="4564226" y="5567274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0AE62ED-1FE3-A602-5F79-D62F5468EF77}"/>
              </a:ext>
            </a:extLst>
          </p:cNvPr>
          <p:cNvSpPr/>
          <p:nvPr/>
        </p:nvSpPr>
        <p:spPr>
          <a:xfrm>
            <a:off x="4848972" y="3980114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8FA1C39-CF2B-C65D-5E88-9B8348411715}"/>
              </a:ext>
            </a:extLst>
          </p:cNvPr>
          <p:cNvSpPr/>
          <p:nvPr/>
        </p:nvSpPr>
        <p:spPr>
          <a:xfrm>
            <a:off x="3264476" y="3178641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C447F9C-EFE1-690A-B262-63DA78A05624}"/>
              </a:ext>
            </a:extLst>
          </p:cNvPr>
          <p:cNvSpPr/>
          <p:nvPr/>
        </p:nvSpPr>
        <p:spPr>
          <a:xfrm>
            <a:off x="7009140" y="5570572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B9B1A45-D9C1-B285-E938-9DFF0A726A7B}"/>
              </a:ext>
            </a:extLst>
          </p:cNvPr>
          <p:cNvSpPr/>
          <p:nvPr/>
        </p:nvSpPr>
        <p:spPr>
          <a:xfrm>
            <a:off x="7451673" y="4306824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C0412EF-31FE-B034-353B-F6D083FF2B39}"/>
              </a:ext>
            </a:extLst>
          </p:cNvPr>
          <p:cNvSpPr/>
          <p:nvPr/>
        </p:nvSpPr>
        <p:spPr>
          <a:xfrm>
            <a:off x="9853900" y="4334702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CE6269E-07EE-0896-323A-A6FB8488B563}"/>
              </a:ext>
            </a:extLst>
          </p:cNvPr>
          <p:cNvSpPr/>
          <p:nvPr/>
        </p:nvSpPr>
        <p:spPr>
          <a:xfrm>
            <a:off x="9086843" y="2726873"/>
            <a:ext cx="485155" cy="43409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87FC309-081E-0735-4240-A96C7454E033}"/>
              </a:ext>
            </a:extLst>
          </p:cNvPr>
          <p:cNvSpPr/>
          <p:nvPr/>
        </p:nvSpPr>
        <p:spPr>
          <a:xfrm>
            <a:off x="6558966" y="1608126"/>
            <a:ext cx="485155" cy="43409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1</a:t>
            </a:r>
            <a:r>
              <a:rPr lang="en-US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192B46"/>
                </a:solidFill>
              </a:defRPr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Applications of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  <a:defRPr sz="2000" b="1">
                <a:solidFill>
                  <a:srgbClr val="192B46"/>
                </a:solidFill>
              </a:defRPr>
            </a:pPr>
            <a:endParaRPr lang="en-US" sz="2400" dirty="0"/>
          </a:p>
          <a:p>
            <a:pPr marL="285750" indent="-22860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500">
                <a:solidFill>
                  <a:srgbClr val="232A32"/>
                </a:solidFill>
              </a:defRPr>
            </a:pPr>
            <a:r>
              <a:rPr lang="en-US" sz="2400" dirty="0"/>
              <a:t>Useful for organizing information</a:t>
            </a:r>
          </a:p>
          <a:p>
            <a:pPr marL="285750" indent="-22860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500">
                <a:solidFill>
                  <a:srgbClr val="232A32"/>
                </a:solidFill>
              </a:defRPr>
            </a:pPr>
            <a:r>
              <a:rPr lang="en-US" sz="2400" dirty="0"/>
              <a:t>Guiding searches </a:t>
            </a:r>
          </a:p>
          <a:p>
            <a:pPr marL="285750" indent="-22860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500">
                <a:solidFill>
                  <a:srgbClr val="232A32"/>
                </a:solidFill>
              </a:defRPr>
            </a:pPr>
            <a:r>
              <a:rPr lang="en-US" sz="2400" dirty="0"/>
              <a:t>Decision-making</a:t>
            </a:r>
          </a:p>
          <a:p>
            <a:pPr marL="285750" indent="-22860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500">
                <a:solidFill>
                  <a:srgbClr val="232A32"/>
                </a:solidFill>
              </a:defRPr>
            </a:pPr>
            <a:r>
              <a:rPr lang="en-US" sz="2400" dirty="0">
                <a:solidFill>
                  <a:srgbClr val="232A32"/>
                </a:solidFill>
              </a:rPr>
              <a:t>Collection of information where each comparison helps us decide which direction to go next.</a:t>
            </a:r>
          </a:p>
          <a:p>
            <a:pPr marL="285750" indent="-22860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500">
                <a:solidFill>
                  <a:srgbClr val="232A32"/>
                </a:solidFill>
              </a:defRPr>
            </a:pPr>
            <a:endParaRPr lang="en-US" sz="2400" dirty="0"/>
          </a:p>
          <a:p>
            <a:pPr indent="-22860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500">
                <a:solidFill>
                  <a:srgbClr val="232A32"/>
                </a:solidFill>
              </a:defRPr>
            </a:pPr>
            <a:endParaRPr lang="en-US" sz="2400" dirty="0"/>
          </a:p>
          <a:p>
            <a:pPr indent="-228600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500">
                <a:solidFill>
                  <a:srgbClr val="232A32"/>
                </a:solidFill>
              </a:defRPr>
            </a:pPr>
            <a:endParaRPr lang="en-US" sz="24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</a:defRPr>
            </a:pPr>
            <a:r>
              <a:t>Stacks → LIFO; push, pop, and peek; overflow and underflow.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</a:defRPr>
            </a:pPr>
            <a:r>
              <a:t>Queues → FIFO; front for removal and rear for insertion.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</a:defRPr>
            </a:pPr>
            <a:r>
              <a:t>Circular queues → wrap around to reuse available array positions.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</a:defRPr>
            </a:pPr>
            <a:r>
              <a:t>Binary trees → nodes with up to two children.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</a:defRPr>
            </a:pPr>
            <a:r>
              <a:t>BSTs → smaller values left, greater values right; duplicates ignored here.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</a:defRPr>
            </a:pPr>
            <a:r>
              <a:t>Traversals → inorder, preorder, and postorder.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1083</Words>
  <Application>Microsoft Macintosh PowerPoint</Application>
  <PresentationFormat>Widescreen</PresentationFormat>
  <Paragraphs>268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Meyer, Dax</cp:lastModifiedBy>
  <cp:revision>7</cp:revision>
  <dcterms:created xsi:type="dcterms:W3CDTF">2013-01-27T09:14:16Z</dcterms:created>
  <dcterms:modified xsi:type="dcterms:W3CDTF">2026-09-20T13:06:22Z</dcterms:modified>
  <cp:category/>
</cp:coreProperties>
</file>